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Catamaran" panose="020B0604020202020204" charset="0"/>
      <p:regular r:id="rId14"/>
      <p:bold r:id="rId15"/>
    </p:embeddedFont>
    <p:embeddedFont>
      <p:font typeface="Catamaran Medium" panose="020B0604020202020204" charset="0"/>
      <p:regular r:id="rId16"/>
      <p:bold r:id="rId17"/>
    </p:embeddedFont>
    <p:embeddedFont>
      <p:font typeface="Catamaran SemiBold" panose="020B0604020202020204" charset="0"/>
      <p:regular r:id="rId18"/>
      <p:bold r:id="rId19"/>
    </p:embeddedFont>
    <p:embeddedFont>
      <p:font typeface="Fredoka" panose="020B0604020202020204" charset="-79"/>
      <p:regular r:id="rId20"/>
      <p:bold r:id="rId21"/>
    </p:embeddedFont>
    <p:embeddedFont>
      <p:font typeface="Hind Siliguri SemiBold" panose="02000000000000000000" pitchFamily="2" charset="0"/>
      <p:regular r:id="rId22"/>
      <p:bold r:id="rId23"/>
    </p:embeddedFont>
    <p:embeddedFont>
      <p:font typeface="Palanquin Dark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34ac845ae2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334ac845ae2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4ac845ae2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334ac845ae2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4ac845ae2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34ac845ae2_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4ac845ae2_3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334ac845ae2_3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34ac845ae2_3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334ac845ae2_3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 flipH="1">
            <a:off x="722369" y="1125307"/>
            <a:ext cx="4252500" cy="22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flipH="1">
            <a:off x="722369" y="3612482"/>
            <a:ext cx="4252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198150" y="1161900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6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198150" y="1161900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844722" y="1901615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1815700" y="1662046"/>
            <a:ext cx="2395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2"/>
          </p:nvPr>
        </p:nvSpPr>
        <p:spPr>
          <a:xfrm>
            <a:off x="1815700" y="2024516"/>
            <a:ext cx="23952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 idx="3"/>
          </p:nvPr>
        </p:nvSpPr>
        <p:spPr>
          <a:xfrm>
            <a:off x="844722" y="3580843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4"/>
          </p:nvPr>
        </p:nvSpPr>
        <p:spPr>
          <a:xfrm>
            <a:off x="1815700" y="3341263"/>
            <a:ext cx="2395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5"/>
          </p:nvPr>
        </p:nvSpPr>
        <p:spPr>
          <a:xfrm>
            <a:off x="1815700" y="3703733"/>
            <a:ext cx="23952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 idx="6"/>
          </p:nvPr>
        </p:nvSpPr>
        <p:spPr>
          <a:xfrm>
            <a:off x="4946586" y="1901615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7"/>
          </p:nvPr>
        </p:nvSpPr>
        <p:spPr>
          <a:xfrm>
            <a:off x="5917568" y="1662046"/>
            <a:ext cx="2395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8"/>
          </p:nvPr>
        </p:nvSpPr>
        <p:spPr>
          <a:xfrm>
            <a:off x="5917568" y="2024513"/>
            <a:ext cx="23952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13"/>
          </p:nvPr>
        </p:nvSpPr>
        <p:spPr>
          <a:xfrm>
            <a:off x="4946592" y="3580848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4"/>
          </p:nvPr>
        </p:nvSpPr>
        <p:spPr>
          <a:xfrm>
            <a:off x="5917568" y="3341268"/>
            <a:ext cx="2395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ubTitle" idx="15"/>
          </p:nvPr>
        </p:nvSpPr>
        <p:spPr>
          <a:xfrm>
            <a:off x="5917568" y="3703754"/>
            <a:ext cx="23952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4574485" y="2117825"/>
            <a:ext cx="3601800" cy="16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4574596" y="1339375"/>
            <a:ext cx="36018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720000" y="1831750"/>
            <a:ext cx="4350000" cy="23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198150" y="1161975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23_1_2_1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198150" y="1161975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4490604" y="1901621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5441939" y="1662050"/>
            <a:ext cx="28644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2"/>
          </p:nvPr>
        </p:nvSpPr>
        <p:spPr>
          <a:xfrm>
            <a:off x="5441939" y="2024516"/>
            <a:ext cx="28644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 idx="3"/>
          </p:nvPr>
        </p:nvSpPr>
        <p:spPr>
          <a:xfrm>
            <a:off x="4490604" y="3580843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4"/>
          </p:nvPr>
        </p:nvSpPr>
        <p:spPr>
          <a:xfrm>
            <a:off x="5441939" y="3341267"/>
            <a:ext cx="28644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5"/>
          </p:nvPr>
        </p:nvSpPr>
        <p:spPr>
          <a:xfrm>
            <a:off x="5441939" y="3703752"/>
            <a:ext cx="28644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722375" y="2255025"/>
            <a:ext cx="38496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 idx="2"/>
          </p:nvPr>
        </p:nvSpPr>
        <p:spPr>
          <a:xfrm>
            <a:off x="820800" y="977538"/>
            <a:ext cx="1313100" cy="9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722375" y="3799013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7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>
            <a:off x="198150" y="1161975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4069175" y="1831750"/>
            <a:ext cx="4350000" cy="23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1"/>
          </p:nvPr>
        </p:nvSpPr>
        <p:spPr>
          <a:xfrm>
            <a:off x="994550" y="2932900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2"/>
          </p:nvPr>
        </p:nvSpPr>
        <p:spPr>
          <a:xfrm>
            <a:off x="5372700" y="2932900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994550" y="2340700"/>
            <a:ext cx="27768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 idx="3"/>
          </p:nvPr>
        </p:nvSpPr>
        <p:spPr>
          <a:xfrm>
            <a:off x="5372700" y="2340700"/>
            <a:ext cx="27768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 idx="4"/>
          </p:nvPr>
        </p:nvSpPr>
        <p:spPr>
          <a:xfrm>
            <a:off x="1940000" y="1590756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 idx="5"/>
          </p:nvPr>
        </p:nvSpPr>
        <p:spPr>
          <a:xfrm>
            <a:off x="6318150" y="1590756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_2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198150" y="1161975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title" idx="2"/>
          </p:nvPr>
        </p:nvSpPr>
        <p:spPr>
          <a:xfrm>
            <a:off x="840113" y="1601577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1815700" y="1362000"/>
            <a:ext cx="2908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3"/>
          </p:nvPr>
        </p:nvSpPr>
        <p:spPr>
          <a:xfrm>
            <a:off x="1815700" y="1724473"/>
            <a:ext cx="2908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 idx="4"/>
          </p:nvPr>
        </p:nvSpPr>
        <p:spPr>
          <a:xfrm>
            <a:off x="840113" y="2736911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5"/>
          </p:nvPr>
        </p:nvSpPr>
        <p:spPr>
          <a:xfrm>
            <a:off x="1815700" y="2497338"/>
            <a:ext cx="2908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6"/>
          </p:nvPr>
        </p:nvSpPr>
        <p:spPr>
          <a:xfrm>
            <a:off x="1815700" y="2859811"/>
            <a:ext cx="2908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title" idx="7"/>
          </p:nvPr>
        </p:nvSpPr>
        <p:spPr>
          <a:xfrm>
            <a:off x="840113" y="3872245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8"/>
          </p:nvPr>
        </p:nvSpPr>
        <p:spPr>
          <a:xfrm>
            <a:off x="1815700" y="3632677"/>
            <a:ext cx="2908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9"/>
          </p:nvPr>
        </p:nvSpPr>
        <p:spPr>
          <a:xfrm>
            <a:off x="1815700" y="3995150"/>
            <a:ext cx="2908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4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198150" y="1161975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title" idx="2"/>
          </p:nvPr>
        </p:nvSpPr>
        <p:spPr>
          <a:xfrm flipH="1">
            <a:off x="3426330" y="1901615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ubTitle" idx="1"/>
          </p:nvPr>
        </p:nvSpPr>
        <p:spPr>
          <a:xfrm flipH="1">
            <a:off x="828152" y="1662046"/>
            <a:ext cx="2395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3"/>
          </p:nvPr>
        </p:nvSpPr>
        <p:spPr>
          <a:xfrm flipH="1">
            <a:off x="828152" y="2024516"/>
            <a:ext cx="23952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title" idx="4"/>
          </p:nvPr>
        </p:nvSpPr>
        <p:spPr>
          <a:xfrm flipH="1">
            <a:off x="3426330" y="3580843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ubTitle" idx="5"/>
          </p:nvPr>
        </p:nvSpPr>
        <p:spPr>
          <a:xfrm flipH="1">
            <a:off x="828152" y="3341263"/>
            <a:ext cx="2395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ubTitle" idx="6"/>
          </p:nvPr>
        </p:nvSpPr>
        <p:spPr>
          <a:xfrm flipH="1">
            <a:off x="828152" y="3703733"/>
            <a:ext cx="23952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title" idx="7"/>
          </p:nvPr>
        </p:nvSpPr>
        <p:spPr>
          <a:xfrm>
            <a:off x="4949666" y="1901615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ubTitle" idx="8"/>
          </p:nvPr>
        </p:nvSpPr>
        <p:spPr>
          <a:xfrm>
            <a:off x="5920648" y="1662046"/>
            <a:ext cx="2395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ubTitle" idx="9"/>
          </p:nvPr>
        </p:nvSpPr>
        <p:spPr>
          <a:xfrm>
            <a:off x="5920648" y="2024513"/>
            <a:ext cx="23952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title" idx="13"/>
          </p:nvPr>
        </p:nvSpPr>
        <p:spPr>
          <a:xfrm>
            <a:off x="4949672" y="3580848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ubTitle" idx="14"/>
          </p:nvPr>
        </p:nvSpPr>
        <p:spPr>
          <a:xfrm>
            <a:off x="5920648" y="3341268"/>
            <a:ext cx="2395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ubTitle" idx="15"/>
          </p:nvPr>
        </p:nvSpPr>
        <p:spPr>
          <a:xfrm>
            <a:off x="5920648" y="3703754"/>
            <a:ext cx="23952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198150" y="1161975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1184125" y="2557875"/>
            <a:ext cx="23979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"/>
          </p:nvPr>
        </p:nvSpPr>
        <p:spPr>
          <a:xfrm>
            <a:off x="994550" y="3466212"/>
            <a:ext cx="27768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2"/>
          </p:nvPr>
        </p:nvSpPr>
        <p:spPr>
          <a:xfrm>
            <a:off x="5562150" y="2557875"/>
            <a:ext cx="23979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3"/>
          </p:nvPr>
        </p:nvSpPr>
        <p:spPr>
          <a:xfrm>
            <a:off x="5372700" y="3466212"/>
            <a:ext cx="27768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4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5"/>
          </p:nvPr>
        </p:nvSpPr>
        <p:spPr>
          <a:xfrm>
            <a:off x="994550" y="1999225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6"/>
          </p:nvPr>
        </p:nvSpPr>
        <p:spPr>
          <a:xfrm>
            <a:off x="5372700" y="1999225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1155481" y="2343512"/>
            <a:ext cx="2958900" cy="10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1155481" y="1636317"/>
            <a:ext cx="29589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title" hasCustomPrompt="1"/>
          </p:nvPr>
        </p:nvSpPr>
        <p:spPr>
          <a:xfrm>
            <a:off x="1468050" y="1809750"/>
            <a:ext cx="6207900" cy="1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1"/>
          </p:nvPr>
        </p:nvSpPr>
        <p:spPr>
          <a:xfrm flipH="1">
            <a:off x="1468050" y="3186441"/>
            <a:ext cx="6207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2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198150" y="1161900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1530661" y="2102812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ubTitle" idx="1"/>
          </p:nvPr>
        </p:nvSpPr>
        <p:spPr>
          <a:xfrm>
            <a:off x="829711" y="2876268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ubTitle" idx="2"/>
          </p:nvPr>
        </p:nvSpPr>
        <p:spPr>
          <a:xfrm>
            <a:off x="829711" y="3247668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 idx="3"/>
          </p:nvPr>
        </p:nvSpPr>
        <p:spPr>
          <a:xfrm>
            <a:off x="4129048" y="2102812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ubTitle" idx="4"/>
          </p:nvPr>
        </p:nvSpPr>
        <p:spPr>
          <a:xfrm>
            <a:off x="3428103" y="2876268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ubTitle" idx="5"/>
          </p:nvPr>
        </p:nvSpPr>
        <p:spPr>
          <a:xfrm>
            <a:off x="3428103" y="3247668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 idx="6"/>
          </p:nvPr>
        </p:nvSpPr>
        <p:spPr>
          <a:xfrm>
            <a:off x="6727436" y="2102812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7"/>
          </p:nvPr>
        </p:nvSpPr>
        <p:spPr>
          <a:xfrm>
            <a:off x="6026489" y="2876268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subTitle" idx="8"/>
          </p:nvPr>
        </p:nvSpPr>
        <p:spPr>
          <a:xfrm>
            <a:off x="6026489" y="3247668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198150" y="1161900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1"/>
          </p:nvPr>
        </p:nvSpPr>
        <p:spPr>
          <a:xfrm>
            <a:off x="838800" y="3641490"/>
            <a:ext cx="2070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2"/>
          </p:nvPr>
        </p:nvSpPr>
        <p:spPr>
          <a:xfrm>
            <a:off x="838800" y="4029710"/>
            <a:ext cx="2070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3"/>
          </p:nvPr>
        </p:nvSpPr>
        <p:spPr>
          <a:xfrm>
            <a:off x="3536543" y="3641490"/>
            <a:ext cx="2070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4"/>
          </p:nvPr>
        </p:nvSpPr>
        <p:spPr>
          <a:xfrm>
            <a:off x="3536557" y="4029710"/>
            <a:ext cx="2070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ubTitle" idx="5"/>
          </p:nvPr>
        </p:nvSpPr>
        <p:spPr>
          <a:xfrm>
            <a:off x="6234300" y="3641490"/>
            <a:ext cx="2070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6"/>
          </p:nvPr>
        </p:nvSpPr>
        <p:spPr>
          <a:xfrm>
            <a:off x="6234300" y="4029710"/>
            <a:ext cx="2070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redoka"/>
              <a:buNone/>
              <a:defRPr sz="3600"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redoka"/>
              <a:buNone/>
              <a:defRPr sz="3600"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redoka"/>
              <a:buNone/>
              <a:defRPr sz="3600"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redoka"/>
              <a:buNone/>
              <a:defRPr sz="3600"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redoka"/>
              <a:buNone/>
              <a:defRPr sz="3600"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redoka"/>
              <a:buNone/>
              <a:defRPr sz="3600"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redoka"/>
              <a:buNone/>
              <a:defRPr sz="3600"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redoka"/>
              <a:buNone/>
              <a:defRPr sz="3600"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7"/>
          </p:nvPr>
        </p:nvSpPr>
        <p:spPr>
          <a:xfrm>
            <a:off x="838800" y="1907228"/>
            <a:ext cx="2070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8"/>
          </p:nvPr>
        </p:nvSpPr>
        <p:spPr>
          <a:xfrm>
            <a:off x="838800" y="2295448"/>
            <a:ext cx="2070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9"/>
          </p:nvPr>
        </p:nvSpPr>
        <p:spPr>
          <a:xfrm>
            <a:off x="3536543" y="1907228"/>
            <a:ext cx="2070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ubTitle" idx="13"/>
          </p:nvPr>
        </p:nvSpPr>
        <p:spPr>
          <a:xfrm>
            <a:off x="3536557" y="2295448"/>
            <a:ext cx="2070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ubTitle" idx="14"/>
          </p:nvPr>
        </p:nvSpPr>
        <p:spPr>
          <a:xfrm>
            <a:off x="6234300" y="1907228"/>
            <a:ext cx="2070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15"/>
          </p:nvPr>
        </p:nvSpPr>
        <p:spPr>
          <a:xfrm>
            <a:off x="6234300" y="2295448"/>
            <a:ext cx="2070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8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944688" y="3492729"/>
            <a:ext cx="3392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/>
            </a:lvl9pPr>
          </a:lstStyle>
          <a:p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subTitle" idx="1"/>
          </p:nvPr>
        </p:nvSpPr>
        <p:spPr>
          <a:xfrm>
            <a:off x="944688" y="1216227"/>
            <a:ext cx="3392700" cy="19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1714950" y="1435448"/>
            <a:ext cx="57141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2475000" y="1942761"/>
            <a:ext cx="4194000" cy="1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_1_1_1">
    <p:bg>
      <p:bgPr>
        <a:noFill/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4919570" y="1268572"/>
            <a:ext cx="3162900" cy="14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1"/>
          </p:nvPr>
        </p:nvSpPr>
        <p:spPr>
          <a:xfrm>
            <a:off x="4919570" y="2717500"/>
            <a:ext cx="3162900" cy="11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4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198150" y="1161900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 flipH="1">
            <a:off x="3429804" y="1601583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 flipH="1">
            <a:off x="820650" y="1362000"/>
            <a:ext cx="2402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2"/>
          </p:nvPr>
        </p:nvSpPr>
        <p:spPr>
          <a:xfrm flipH="1">
            <a:off x="820650" y="1724473"/>
            <a:ext cx="2402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3"/>
          </p:nvPr>
        </p:nvSpPr>
        <p:spPr>
          <a:xfrm flipH="1">
            <a:off x="3429804" y="3872251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4"/>
          </p:nvPr>
        </p:nvSpPr>
        <p:spPr>
          <a:xfrm flipH="1">
            <a:off x="820650" y="3632677"/>
            <a:ext cx="2402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5"/>
          </p:nvPr>
        </p:nvSpPr>
        <p:spPr>
          <a:xfrm flipH="1">
            <a:off x="820650" y="3995150"/>
            <a:ext cx="2402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 idx="6"/>
          </p:nvPr>
        </p:nvSpPr>
        <p:spPr>
          <a:xfrm>
            <a:off x="4946196" y="1601583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7"/>
          </p:nvPr>
        </p:nvSpPr>
        <p:spPr>
          <a:xfrm>
            <a:off x="5920775" y="1362000"/>
            <a:ext cx="2402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8"/>
          </p:nvPr>
        </p:nvSpPr>
        <p:spPr>
          <a:xfrm>
            <a:off x="5920775" y="1724473"/>
            <a:ext cx="2402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title" idx="13"/>
          </p:nvPr>
        </p:nvSpPr>
        <p:spPr>
          <a:xfrm>
            <a:off x="4946196" y="3872251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14"/>
          </p:nvPr>
        </p:nvSpPr>
        <p:spPr>
          <a:xfrm>
            <a:off x="5920775" y="3632677"/>
            <a:ext cx="2402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15"/>
          </p:nvPr>
        </p:nvSpPr>
        <p:spPr>
          <a:xfrm>
            <a:off x="5920775" y="3995150"/>
            <a:ext cx="2402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title" idx="16"/>
          </p:nvPr>
        </p:nvSpPr>
        <p:spPr>
          <a:xfrm flipH="1">
            <a:off x="3429804" y="2736917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17"/>
          </p:nvPr>
        </p:nvSpPr>
        <p:spPr>
          <a:xfrm flipH="1">
            <a:off x="820650" y="2497339"/>
            <a:ext cx="2402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8"/>
          </p:nvPr>
        </p:nvSpPr>
        <p:spPr>
          <a:xfrm flipH="1">
            <a:off x="820650" y="2859811"/>
            <a:ext cx="2402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title" idx="19"/>
          </p:nvPr>
        </p:nvSpPr>
        <p:spPr>
          <a:xfrm>
            <a:off x="4946196" y="2736917"/>
            <a:ext cx="768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20"/>
          </p:nvPr>
        </p:nvSpPr>
        <p:spPr>
          <a:xfrm>
            <a:off x="5920775" y="2497339"/>
            <a:ext cx="2402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subTitle" idx="21"/>
          </p:nvPr>
        </p:nvSpPr>
        <p:spPr>
          <a:xfrm>
            <a:off x="5920775" y="2859811"/>
            <a:ext cx="2402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3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3"/>
          <p:cNvSpPr txBox="1">
            <a:spLocks noGrp="1"/>
          </p:cNvSpPr>
          <p:nvPr>
            <p:ph type="title"/>
          </p:nvPr>
        </p:nvSpPr>
        <p:spPr>
          <a:xfrm>
            <a:off x="722375" y="1343950"/>
            <a:ext cx="38496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1"/>
          </p:nvPr>
        </p:nvSpPr>
        <p:spPr>
          <a:xfrm>
            <a:off x="722375" y="2305848"/>
            <a:ext cx="38496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722375" y="3464106"/>
            <a:ext cx="33822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lang="en" sz="1200" b="1" i="0" u="none" strike="noStrike" cap="none">
                <a:solidFill>
                  <a:schemeClr val="hlink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2"/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including icons by </a:t>
            </a:r>
            <a:r>
              <a:rPr lang="en" sz="1200" b="1" i="0" u="none" strike="noStrike" cap="none">
                <a:solidFill>
                  <a:schemeClr val="hlink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3"/>
              </a:rPr>
              <a:t>Flaticon</a:t>
            </a:r>
            <a:r>
              <a:rPr lang="en" sz="1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lang="en" sz="1200" b="1" i="0" u="none" strike="noStrike" cap="none">
                <a:solidFill>
                  <a:schemeClr val="hlink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4"/>
              </a:rPr>
              <a:t>Freepik</a:t>
            </a:r>
            <a:endParaRPr sz="12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7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body" idx="1"/>
          </p:nvPr>
        </p:nvSpPr>
        <p:spPr>
          <a:xfrm>
            <a:off x="720000" y="1457725"/>
            <a:ext cx="7704000" cy="30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3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  <p:sp>
        <p:nvSpPr>
          <p:cNvPr id="177" name="Google Shape;177;p24"/>
          <p:cNvSpPr/>
          <p:nvPr/>
        </p:nvSpPr>
        <p:spPr>
          <a:xfrm>
            <a:off x="198150" y="1161975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/>
          <p:nvPr/>
        </p:nvSpPr>
        <p:spPr>
          <a:xfrm>
            <a:off x="198150" y="1161900"/>
            <a:ext cx="8747700" cy="3685800"/>
          </a:xfrm>
          <a:prstGeom prst="roundRect">
            <a:avLst>
              <a:gd name="adj" fmla="val 421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4748375" y="2544100"/>
            <a:ext cx="3675600" cy="19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2"/>
          </p:nvPr>
        </p:nvSpPr>
        <p:spPr>
          <a:xfrm>
            <a:off x="720013" y="1457725"/>
            <a:ext cx="3675600" cy="30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/>
          <p:nvPr/>
        </p:nvSpPr>
        <p:spPr>
          <a:xfrm>
            <a:off x="198150" y="295800"/>
            <a:ext cx="8747700" cy="4551900"/>
          </a:xfrm>
          <a:prstGeom prst="roundRect">
            <a:avLst>
              <a:gd name="adj" fmla="val 338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ind Siliguri SemiBold"/>
              <a:buNone/>
              <a:defRPr sz="32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ind Siliguri SemiBold"/>
              <a:buNone/>
              <a:defRPr sz="36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ind Siliguri SemiBold"/>
              <a:buNone/>
              <a:defRPr sz="36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ind Siliguri SemiBold"/>
              <a:buNone/>
              <a:defRPr sz="36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ind Siliguri SemiBold"/>
              <a:buNone/>
              <a:defRPr sz="36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ind Siliguri SemiBold"/>
              <a:buNone/>
              <a:defRPr sz="36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ind Siliguri SemiBold"/>
              <a:buNone/>
              <a:defRPr sz="36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ind Siliguri SemiBold"/>
              <a:buNone/>
              <a:defRPr sz="36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ind Siliguri SemiBold"/>
              <a:buNone/>
              <a:defRPr sz="3600" b="0" i="0" u="none" strike="noStrike" cap="none">
                <a:solidFill>
                  <a:schemeClr val="dk1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●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○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■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●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○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■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●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○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■"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mc:AlternateContent xmlns:mc="http://schemas.openxmlformats.org/markup-compatibility/2006" xmlns:p14="http://schemas.microsoft.com/office/powerpoint/2010/main">
    <mc:Choice Requires="p14">
      <p:transition spd="slow" p14:dur="9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/>
          <p:nvPr/>
        </p:nvSpPr>
        <p:spPr>
          <a:xfrm>
            <a:off x="12812293" y="872774"/>
            <a:ext cx="144983" cy="272315"/>
          </a:xfrm>
          <a:custGeom>
            <a:avLst/>
            <a:gdLst/>
            <a:ahLst/>
            <a:cxnLst/>
            <a:rect l="l" t="t" r="r" b="b"/>
            <a:pathLst>
              <a:path w="739" h="1388" extrusionOk="0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12634741" y="984406"/>
            <a:ext cx="165975" cy="226210"/>
          </a:xfrm>
          <a:custGeom>
            <a:avLst/>
            <a:gdLst/>
            <a:ahLst/>
            <a:cxnLst/>
            <a:rect l="l" t="t" r="r" b="b"/>
            <a:pathLst>
              <a:path w="846" h="1153" extrusionOk="0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12359096" y="2644566"/>
            <a:ext cx="116928" cy="53953"/>
          </a:xfrm>
          <a:custGeom>
            <a:avLst/>
            <a:gdLst/>
            <a:ahLst/>
            <a:cxnLst/>
            <a:rect l="l" t="t" r="r" b="b"/>
            <a:pathLst>
              <a:path w="596" h="275" fill="none" extrusionOk="0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w="9525" cap="rnd" cmpd="sng">
            <a:solidFill>
              <a:srgbClr val="2AB5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 txBox="1">
            <a:spLocks noGrp="1"/>
          </p:cNvSpPr>
          <p:nvPr>
            <p:ph type="ctrTitle"/>
          </p:nvPr>
        </p:nvSpPr>
        <p:spPr>
          <a:xfrm flipH="1">
            <a:off x="266450" y="721975"/>
            <a:ext cx="4942200" cy="26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Secure Bank Mobile Check Deposit- Benefits Analysis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1"/>
          </p:nvPr>
        </p:nvSpPr>
        <p:spPr>
          <a:xfrm flipH="1">
            <a:off x="382094" y="3792757"/>
            <a:ext cx="4252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Group 6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February 14, 2025</a:t>
            </a:r>
            <a:endParaRPr/>
          </a:p>
        </p:txBody>
      </p:sp>
      <p:cxnSp>
        <p:nvCxnSpPr>
          <p:cNvPr id="197" name="Google Shape;197;p29"/>
          <p:cNvCxnSpPr/>
          <p:nvPr/>
        </p:nvCxnSpPr>
        <p:spPr>
          <a:xfrm rot="10800000">
            <a:off x="382097" y="3541055"/>
            <a:ext cx="265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8" name="Google Shape;198;p29"/>
          <p:cNvGrpSpPr/>
          <p:nvPr/>
        </p:nvGrpSpPr>
        <p:grpSpPr>
          <a:xfrm>
            <a:off x="8351163" y="842031"/>
            <a:ext cx="351663" cy="333831"/>
            <a:chOff x="6222125" y="2025975"/>
            <a:chExt cx="499450" cy="474125"/>
          </a:xfrm>
        </p:grpSpPr>
        <p:sp>
          <p:nvSpPr>
            <p:cNvPr id="199" name="Google Shape;199;p29"/>
            <p:cNvSpPr/>
            <p:nvPr/>
          </p:nvSpPr>
          <p:spPr>
            <a:xfrm>
              <a:off x="6222125" y="2025975"/>
              <a:ext cx="499450" cy="474125"/>
            </a:xfrm>
            <a:custGeom>
              <a:avLst/>
              <a:gdLst/>
              <a:ahLst/>
              <a:cxnLst/>
              <a:rect l="l" t="t" r="r" b="b"/>
              <a:pathLst>
                <a:path w="19978" h="18965" extrusionOk="0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9"/>
            <p:cNvSpPr/>
            <p:nvPr/>
          </p:nvSpPr>
          <p:spPr>
            <a:xfrm>
              <a:off x="6309175" y="2087825"/>
              <a:ext cx="350425" cy="350425"/>
            </a:xfrm>
            <a:custGeom>
              <a:avLst/>
              <a:gdLst/>
              <a:ahLst/>
              <a:cxnLst/>
              <a:rect l="l" t="t" r="r" b="b"/>
              <a:pathLst>
                <a:path w="14017" h="14017" extrusionOk="0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9"/>
            <p:cNvSpPr/>
            <p:nvPr/>
          </p:nvSpPr>
          <p:spPr>
            <a:xfrm>
              <a:off x="6431600" y="2142250"/>
              <a:ext cx="105575" cy="241575"/>
            </a:xfrm>
            <a:custGeom>
              <a:avLst/>
              <a:gdLst/>
              <a:ahLst/>
              <a:cxnLst/>
              <a:rect l="l" t="t" r="r" b="b"/>
              <a:pathLst>
                <a:path w="4223" h="9663" extrusionOk="0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600" y="930850"/>
            <a:ext cx="3750450" cy="25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>
            <a:spLocks noGrp="1"/>
          </p:cNvSpPr>
          <p:nvPr>
            <p:ph type="subTitle" idx="1"/>
          </p:nvPr>
        </p:nvSpPr>
        <p:spPr>
          <a:xfrm>
            <a:off x="530700" y="1171300"/>
            <a:ext cx="6381000" cy="30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tamaran Medium"/>
              <a:buAutoNum type="arabicPeriod"/>
            </a:pPr>
            <a:r>
              <a:rPr lang="en" sz="1800">
                <a:latin typeface="Catamaran Medium"/>
                <a:ea typeface="Catamaran Medium"/>
                <a:cs typeface="Catamaran Medium"/>
                <a:sym typeface="Catamaran Medium"/>
              </a:rPr>
              <a:t>Overview of the Project</a:t>
            </a:r>
            <a:endParaRPr sz="18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tamaran Medium"/>
              <a:buAutoNum type="arabicPeriod"/>
            </a:pPr>
            <a:r>
              <a:rPr lang="en" sz="1800">
                <a:latin typeface="Catamaran Medium"/>
                <a:ea typeface="Catamaran Medium"/>
                <a:cs typeface="Catamaran Medium"/>
                <a:sym typeface="Catamaran Medium"/>
              </a:rPr>
              <a:t>Tangible Benefits</a:t>
            </a:r>
            <a:endParaRPr sz="18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tamaran Medium"/>
              <a:buAutoNum type="arabicPeriod"/>
            </a:pPr>
            <a:r>
              <a:rPr lang="en" sz="1800">
                <a:latin typeface="Catamaran Medium"/>
                <a:ea typeface="Catamaran Medium"/>
                <a:cs typeface="Catamaran Medium"/>
                <a:sym typeface="Catamaran Medium"/>
              </a:rPr>
              <a:t>Intangible Benefits</a:t>
            </a:r>
            <a:endParaRPr sz="18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tamaran Medium"/>
              <a:buAutoNum type="arabicPeriod"/>
            </a:pPr>
            <a:r>
              <a:rPr lang="en" sz="1800">
                <a:latin typeface="Catamaran Medium"/>
                <a:ea typeface="Catamaran Medium"/>
                <a:cs typeface="Catamaran Medium"/>
                <a:sym typeface="Catamaran Medium"/>
              </a:rPr>
              <a:t>Alignment</a:t>
            </a:r>
            <a:endParaRPr sz="18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tamaran Medium"/>
              <a:buAutoNum type="arabicPeriod"/>
            </a:pPr>
            <a:r>
              <a:rPr lang="en" sz="1800">
                <a:latin typeface="Catamaran Medium"/>
                <a:ea typeface="Catamaran Medium"/>
                <a:cs typeface="Catamaran Medium"/>
                <a:sym typeface="Catamaran Medium"/>
              </a:rPr>
              <a:t>Conclusion &amp; Way Forward</a:t>
            </a:r>
            <a:endParaRPr sz="18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Agenda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subTitle" idx="1"/>
          </p:nvPr>
        </p:nvSpPr>
        <p:spPr>
          <a:xfrm>
            <a:off x="400700" y="1540350"/>
            <a:ext cx="4171200" cy="27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Secure Bank is implementing mobile check deposit feature as a part of Digital Transformation Project.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Objective</a:t>
            </a:r>
            <a:r>
              <a:rPr lang="en"/>
              <a:t>: Enhance customer satisfaction, improve operational efficiency, and maintain a competitive edge.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980251" y="675475"/>
            <a:ext cx="430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3100">
                <a:latin typeface="Catamaran Medium"/>
                <a:ea typeface="Catamaran Medium"/>
                <a:cs typeface="Catamaran Medium"/>
                <a:sym typeface="Catamaran Medium"/>
              </a:rPr>
              <a:t>Overview of the Project</a:t>
            </a:r>
            <a:endParaRPr sz="31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215" name="Google Shape;215;p31"/>
          <p:cNvSpPr/>
          <p:nvPr/>
        </p:nvSpPr>
        <p:spPr>
          <a:xfrm>
            <a:off x="273973" y="601532"/>
            <a:ext cx="586800" cy="586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1"/>
          <p:cNvSpPr/>
          <p:nvPr/>
        </p:nvSpPr>
        <p:spPr>
          <a:xfrm>
            <a:off x="400710" y="728015"/>
            <a:ext cx="333327" cy="333835"/>
          </a:xfrm>
          <a:custGeom>
            <a:avLst/>
            <a:gdLst/>
            <a:ahLst/>
            <a:cxnLst/>
            <a:rect l="l" t="t" r="r" b="b"/>
            <a:pathLst>
              <a:path w="16414" h="16439" extrusionOk="0">
                <a:moveTo>
                  <a:pt x="14426" y="4528"/>
                </a:moveTo>
                <a:lnTo>
                  <a:pt x="15451" y="5024"/>
                </a:lnTo>
                <a:lnTo>
                  <a:pt x="15451" y="6986"/>
                </a:lnTo>
                <a:lnTo>
                  <a:pt x="14426" y="7481"/>
                </a:lnTo>
                <a:lnTo>
                  <a:pt x="14426" y="4528"/>
                </a:lnTo>
                <a:close/>
                <a:moveTo>
                  <a:pt x="5131" y="4242"/>
                </a:moveTo>
                <a:lnTo>
                  <a:pt x="5131" y="7767"/>
                </a:lnTo>
                <a:lnTo>
                  <a:pt x="2726" y="7767"/>
                </a:lnTo>
                <a:cubicBezTo>
                  <a:pt x="1752" y="7767"/>
                  <a:pt x="965" y="6978"/>
                  <a:pt x="963" y="6005"/>
                </a:cubicBezTo>
                <a:cubicBezTo>
                  <a:pt x="965" y="5031"/>
                  <a:pt x="1752" y="4243"/>
                  <a:pt x="2726" y="4242"/>
                </a:cubicBezTo>
                <a:close/>
                <a:moveTo>
                  <a:pt x="13464" y="2104"/>
                </a:moveTo>
                <a:lnTo>
                  <a:pt x="13464" y="9907"/>
                </a:lnTo>
                <a:cubicBezTo>
                  <a:pt x="12491" y="9293"/>
                  <a:pt x="11446" y="8804"/>
                  <a:pt x="10353" y="8448"/>
                </a:cubicBezTo>
                <a:cubicBezTo>
                  <a:pt x="8977" y="8000"/>
                  <a:pt x="7539" y="7771"/>
                  <a:pt x="6092" y="7767"/>
                </a:cubicBezTo>
                <a:lnTo>
                  <a:pt x="6092" y="4242"/>
                </a:lnTo>
                <a:cubicBezTo>
                  <a:pt x="8701" y="4236"/>
                  <a:pt x="11255" y="3494"/>
                  <a:pt x="13464" y="2104"/>
                </a:cubicBezTo>
                <a:close/>
                <a:moveTo>
                  <a:pt x="5931" y="10652"/>
                </a:moveTo>
                <a:cubicBezTo>
                  <a:pt x="6020" y="10652"/>
                  <a:pt x="6092" y="10724"/>
                  <a:pt x="6092" y="10813"/>
                </a:cubicBezTo>
                <a:lnTo>
                  <a:pt x="6092" y="11453"/>
                </a:lnTo>
                <a:cubicBezTo>
                  <a:pt x="6092" y="11542"/>
                  <a:pt x="6020" y="11613"/>
                  <a:pt x="5931" y="11614"/>
                </a:cubicBezTo>
                <a:lnTo>
                  <a:pt x="5131" y="11614"/>
                </a:lnTo>
                <a:lnTo>
                  <a:pt x="5131" y="10652"/>
                </a:lnTo>
                <a:close/>
                <a:moveTo>
                  <a:pt x="4169" y="8729"/>
                </a:moveTo>
                <a:lnTo>
                  <a:pt x="4169" y="14979"/>
                </a:lnTo>
                <a:cubicBezTo>
                  <a:pt x="4173" y="15249"/>
                  <a:pt x="3956" y="15470"/>
                  <a:pt x="3687" y="15470"/>
                </a:cubicBezTo>
                <a:cubicBezTo>
                  <a:pt x="3418" y="15470"/>
                  <a:pt x="3201" y="15249"/>
                  <a:pt x="3207" y="14979"/>
                </a:cubicBezTo>
                <a:lnTo>
                  <a:pt x="3207" y="8729"/>
                </a:lnTo>
                <a:close/>
                <a:moveTo>
                  <a:pt x="13944" y="1"/>
                </a:moveTo>
                <a:cubicBezTo>
                  <a:pt x="13675" y="1"/>
                  <a:pt x="13458" y="222"/>
                  <a:pt x="13464" y="492"/>
                </a:cubicBezTo>
                <a:lnTo>
                  <a:pt x="13464" y="950"/>
                </a:lnTo>
                <a:cubicBezTo>
                  <a:pt x="11292" y="2467"/>
                  <a:pt x="8707" y="3280"/>
                  <a:pt x="6059" y="3280"/>
                </a:cubicBezTo>
                <a:lnTo>
                  <a:pt x="2726" y="3280"/>
                </a:lnTo>
                <a:cubicBezTo>
                  <a:pt x="1224" y="3280"/>
                  <a:pt x="1" y="4503"/>
                  <a:pt x="1" y="6005"/>
                </a:cubicBezTo>
                <a:cubicBezTo>
                  <a:pt x="1" y="7344"/>
                  <a:pt x="972" y="8458"/>
                  <a:pt x="2245" y="8687"/>
                </a:cubicBezTo>
                <a:lnTo>
                  <a:pt x="2245" y="14979"/>
                </a:lnTo>
                <a:cubicBezTo>
                  <a:pt x="2236" y="15782"/>
                  <a:pt x="2884" y="16438"/>
                  <a:pt x="3687" y="16438"/>
                </a:cubicBezTo>
                <a:cubicBezTo>
                  <a:pt x="4491" y="16438"/>
                  <a:pt x="5138" y="15782"/>
                  <a:pt x="5130" y="14979"/>
                </a:cubicBezTo>
                <a:lnTo>
                  <a:pt x="5130" y="12575"/>
                </a:lnTo>
                <a:lnTo>
                  <a:pt x="5931" y="12575"/>
                </a:lnTo>
                <a:cubicBezTo>
                  <a:pt x="6550" y="12575"/>
                  <a:pt x="7052" y="12072"/>
                  <a:pt x="7052" y="11453"/>
                </a:cubicBezTo>
                <a:lnTo>
                  <a:pt x="7052" y="10813"/>
                </a:lnTo>
                <a:cubicBezTo>
                  <a:pt x="7052" y="10194"/>
                  <a:pt x="6550" y="9691"/>
                  <a:pt x="5931" y="9691"/>
                </a:cubicBezTo>
                <a:lnTo>
                  <a:pt x="5131" y="9691"/>
                </a:lnTo>
                <a:lnTo>
                  <a:pt x="5131" y="8729"/>
                </a:lnTo>
                <a:lnTo>
                  <a:pt x="6059" y="8729"/>
                </a:lnTo>
                <a:cubicBezTo>
                  <a:pt x="8709" y="8729"/>
                  <a:pt x="11293" y="9543"/>
                  <a:pt x="13464" y="11061"/>
                </a:cubicBezTo>
                <a:lnTo>
                  <a:pt x="13464" y="11517"/>
                </a:lnTo>
                <a:cubicBezTo>
                  <a:pt x="13458" y="11787"/>
                  <a:pt x="13675" y="12008"/>
                  <a:pt x="13944" y="12008"/>
                </a:cubicBezTo>
                <a:cubicBezTo>
                  <a:pt x="14214" y="12008"/>
                  <a:pt x="14430" y="11787"/>
                  <a:pt x="14426" y="11517"/>
                </a:cubicBezTo>
                <a:lnTo>
                  <a:pt x="14426" y="8550"/>
                </a:lnTo>
                <a:lnTo>
                  <a:pt x="16141" y="7720"/>
                </a:lnTo>
                <a:cubicBezTo>
                  <a:pt x="16308" y="7640"/>
                  <a:pt x="16413" y="7471"/>
                  <a:pt x="16413" y="7287"/>
                </a:cubicBezTo>
                <a:lnTo>
                  <a:pt x="16413" y="4722"/>
                </a:lnTo>
                <a:cubicBezTo>
                  <a:pt x="16413" y="4538"/>
                  <a:pt x="16308" y="4369"/>
                  <a:pt x="16141" y="4290"/>
                </a:cubicBezTo>
                <a:lnTo>
                  <a:pt x="14424" y="3460"/>
                </a:lnTo>
                <a:lnTo>
                  <a:pt x="14424" y="492"/>
                </a:lnTo>
                <a:cubicBezTo>
                  <a:pt x="14430" y="222"/>
                  <a:pt x="14214" y="1"/>
                  <a:pt x="139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31"/>
          <p:cNvCxnSpPr/>
          <p:nvPr/>
        </p:nvCxnSpPr>
        <p:spPr>
          <a:xfrm>
            <a:off x="1092447" y="1314776"/>
            <a:ext cx="3291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8" name="Google Shape;2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475" y="1726850"/>
            <a:ext cx="4014650" cy="2258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>
            <a:spLocks noGrp="1"/>
          </p:cNvSpPr>
          <p:nvPr>
            <p:ph type="title"/>
          </p:nvPr>
        </p:nvSpPr>
        <p:spPr>
          <a:xfrm>
            <a:off x="303000" y="451275"/>
            <a:ext cx="85380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2700">
                <a:latin typeface="Catamaran SemiBold"/>
                <a:ea typeface="Catamaran SemiBold"/>
                <a:cs typeface="Catamaran SemiBold"/>
                <a:sym typeface="Catamaran SemiBold"/>
              </a:rPr>
              <a:t>Tangible Benefits </a:t>
            </a:r>
            <a:r>
              <a:rPr lang="en" sz="2700">
                <a:latin typeface="Catamaran Medium"/>
                <a:ea typeface="Catamaran Medium"/>
                <a:cs typeface="Catamaran Medium"/>
                <a:sym typeface="Catamaran Medium"/>
              </a:rPr>
              <a:t>- Operational Efficiency &amp; Cost Saving</a:t>
            </a:r>
            <a:endParaRPr sz="27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224" name="Google Shape;224;p32"/>
          <p:cNvSpPr txBox="1">
            <a:spLocks noGrp="1"/>
          </p:cNvSpPr>
          <p:nvPr>
            <p:ph type="subTitle" idx="1"/>
          </p:nvPr>
        </p:nvSpPr>
        <p:spPr>
          <a:xfrm>
            <a:off x="328675" y="2788575"/>
            <a:ext cx="2455500" cy="13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600"/>
              <a:t>Automation Reduces Manual handling, supporting KPI on average processing time (Target: 2 hrs ; Actual : 1.8 hrs)</a:t>
            </a:r>
            <a:endParaRPr sz="1600"/>
          </a:p>
        </p:txBody>
      </p:sp>
      <p:sp>
        <p:nvSpPr>
          <p:cNvPr id="225" name="Google Shape;225;p32"/>
          <p:cNvSpPr txBox="1">
            <a:spLocks noGrp="1"/>
          </p:cNvSpPr>
          <p:nvPr>
            <p:ph type="subTitle" idx="1"/>
          </p:nvPr>
        </p:nvSpPr>
        <p:spPr>
          <a:xfrm>
            <a:off x="328681" y="2348025"/>
            <a:ext cx="24555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Streamlined Processes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</p:txBody>
      </p:sp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3025875" y="2747350"/>
            <a:ext cx="28041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Fewer in-branch deposits lower staff workload (Target: 20%;</a:t>
            </a:r>
            <a:endParaRPr sz="16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Actual: 18% - improvement</a:t>
            </a:r>
            <a:endParaRPr sz="16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opportunity).</a:t>
            </a:r>
            <a:endParaRPr sz="1600"/>
          </a:p>
        </p:txBody>
      </p:sp>
      <p:sp>
        <p:nvSpPr>
          <p:cNvPr id="227" name="Google Shape;227;p32"/>
          <p:cNvSpPr txBox="1">
            <a:spLocks noGrp="1"/>
          </p:cNvSpPr>
          <p:nvPr>
            <p:ph type="subTitle" idx="1"/>
          </p:nvPr>
        </p:nvSpPr>
        <p:spPr>
          <a:xfrm>
            <a:off x="3038854" y="2294475"/>
            <a:ext cx="28041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Reduced Branch Workload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subTitle" idx="1"/>
          </p:nvPr>
        </p:nvSpPr>
        <p:spPr>
          <a:xfrm>
            <a:off x="6121790" y="2314275"/>
            <a:ext cx="26028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Lower Processing Costs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</p:txBody>
      </p:sp>
      <p:cxnSp>
        <p:nvCxnSpPr>
          <p:cNvPr id="229" name="Google Shape;229;p32"/>
          <p:cNvCxnSpPr/>
          <p:nvPr/>
        </p:nvCxnSpPr>
        <p:spPr>
          <a:xfrm>
            <a:off x="402722" y="1131064"/>
            <a:ext cx="7400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0" name="Google Shape;230;p32"/>
          <p:cNvGrpSpPr/>
          <p:nvPr/>
        </p:nvGrpSpPr>
        <p:grpSpPr>
          <a:xfrm>
            <a:off x="1047075" y="1646456"/>
            <a:ext cx="554155" cy="530719"/>
            <a:chOff x="4206459" y="1191441"/>
            <a:chExt cx="712556" cy="785901"/>
          </a:xfrm>
        </p:grpSpPr>
        <p:sp>
          <p:nvSpPr>
            <p:cNvPr id="231" name="Google Shape;231;p32"/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solidFill>
              <a:srgbClr val="45818E"/>
            </a:solidFill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solidFill>
              <a:srgbClr val="45818E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solidFill>
              <a:srgbClr val="45818E"/>
            </a:solidFill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45818E"/>
            </a:solidFill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5" name="Google Shape;235;p32"/>
            <p:cNvGrpSpPr/>
            <p:nvPr/>
          </p:nvGrpSpPr>
          <p:grpSpPr>
            <a:xfrm>
              <a:off x="4644280" y="1290523"/>
              <a:ext cx="143716" cy="29462"/>
              <a:chOff x="4644280" y="1290523"/>
              <a:chExt cx="143716" cy="29462"/>
            </a:xfrm>
          </p:grpSpPr>
          <p:sp>
            <p:nvSpPr>
              <p:cNvPr id="236" name="Google Shape;236;p32"/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32"/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32"/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32"/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0" name="Google Shape;240;p32"/>
            <p:cNvGrpSpPr/>
            <p:nvPr/>
          </p:nvGrpSpPr>
          <p:grpSpPr>
            <a:xfrm>
              <a:off x="4356567" y="1191441"/>
              <a:ext cx="143691" cy="29488"/>
              <a:chOff x="4356567" y="1191441"/>
              <a:chExt cx="143691" cy="29488"/>
            </a:xfrm>
          </p:grpSpPr>
          <p:sp>
            <p:nvSpPr>
              <p:cNvPr id="241" name="Google Shape;241;p32"/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2"/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32"/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32"/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32"/>
            <p:cNvGrpSpPr/>
            <p:nvPr/>
          </p:nvGrpSpPr>
          <p:grpSpPr>
            <a:xfrm>
              <a:off x="4339009" y="1863727"/>
              <a:ext cx="143704" cy="29476"/>
              <a:chOff x="4339009" y="1863727"/>
              <a:chExt cx="143704" cy="29476"/>
            </a:xfrm>
          </p:grpSpPr>
          <p:sp>
            <p:nvSpPr>
              <p:cNvPr id="246" name="Google Shape;246;p32"/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2"/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2"/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32"/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" name="Google Shape;250;p32"/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251" name="Google Shape;251;p32"/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2"/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2"/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2"/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32"/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2"/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" name="Google Shape;259;p32"/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260" name="Google Shape;260;p32"/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2"/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2"/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2"/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32"/>
            <p:cNvGrpSpPr/>
            <p:nvPr/>
          </p:nvGrpSpPr>
          <p:grpSpPr>
            <a:xfrm>
              <a:off x="4771663" y="1876896"/>
              <a:ext cx="108651" cy="100446"/>
              <a:chOff x="4771663" y="1876896"/>
              <a:chExt cx="108651" cy="100446"/>
            </a:xfrm>
          </p:grpSpPr>
          <p:sp>
            <p:nvSpPr>
              <p:cNvPr id="265" name="Google Shape;265;p32"/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2"/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2"/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2"/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highlight>
                    <a:schemeClr val="dk2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9" name="Google Shape;269;p32"/>
          <p:cNvSpPr/>
          <p:nvPr/>
        </p:nvSpPr>
        <p:spPr>
          <a:xfrm>
            <a:off x="4094450" y="1646450"/>
            <a:ext cx="554146" cy="463206"/>
          </a:xfrm>
          <a:custGeom>
            <a:avLst/>
            <a:gdLst/>
            <a:ahLst/>
            <a:cxnLst/>
            <a:rect l="l" t="t" r="r" b="b"/>
            <a:pathLst>
              <a:path w="11689" h="11758" extrusionOk="0">
                <a:moveTo>
                  <a:pt x="8538" y="2747"/>
                </a:moveTo>
                <a:cubicBezTo>
                  <a:pt x="8727" y="2747"/>
                  <a:pt x="8853" y="2905"/>
                  <a:pt x="8853" y="3094"/>
                </a:cubicBezTo>
                <a:cubicBezTo>
                  <a:pt x="8885" y="3251"/>
                  <a:pt x="8727" y="3409"/>
                  <a:pt x="8538" y="3409"/>
                </a:cubicBezTo>
                <a:cubicBezTo>
                  <a:pt x="8444" y="3409"/>
                  <a:pt x="8381" y="3377"/>
                  <a:pt x="8286" y="3346"/>
                </a:cubicBezTo>
                <a:lnTo>
                  <a:pt x="8538" y="2747"/>
                </a:lnTo>
                <a:close/>
                <a:moveTo>
                  <a:pt x="3277" y="1581"/>
                </a:moveTo>
                <a:cubicBezTo>
                  <a:pt x="3844" y="1581"/>
                  <a:pt x="4316" y="2023"/>
                  <a:pt x="4316" y="2590"/>
                </a:cubicBezTo>
                <a:cubicBezTo>
                  <a:pt x="4316" y="3157"/>
                  <a:pt x="3844" y="3598"/>
                  <a:pt x="3277" y="3598"/>
                </a:cubicBezTo>
                <a:cubicBezTo>
                  <a:pt x="2741" y="3598"/>
                  <a:pt x="2269" y="3157"/>
                  <a:pt x="2269" y="2590"/>
                </a:cubicBezTo>
                <a:cubicBezTo>
                  <a:pt x="2269" y="1991"/>
                  <a:pt x="2741" y="1581"/>
                  <a:pt x="3277" y="1581"/>
                </a:cubicBezTo>
                <a:close/>
                <a:moveTo>
                  <a:pt x="9231" y="5457"/>
                </a:moveTo>
                <a:cubicBezTo>
                  <a:pt x="9672" y="5457"/>
                  <a:pt x="10050" y="5740"/>
                  <a:pt x="10208" y="6150"/>
                </a:cubicBezTo>
                <a:lnTo>
                  <a:pt x="8286" y="6150"/>
                </a:lnTo>
                <a:cubicBezTo>
                  <a:pt x="8412" y="5772"/>
                  <a:pt x="8759" y="5457"/>
                  <a:pt x="9231" y="5457"/>
                </a:cubicBezTo>
                <a:close/>
                <a:moveTo>
                  <a:pt x="10932" y="6843"/>
                </a:moveTo>
                <a:lnTo>
                  <a:pt x="10932" y="7504"/>
                </a:lnTo>
                <a:lnTo>
                  <a:pt x="5262" y="7504"/>
                </a:lnTo>
                <a:lnTo>
                  <a:pt x="5262" y="6843"/>
                </a:lnTo>
                <a:close/>
                <a:moveTo>
                  <a:pt x="3403" y="4291"/>
                </a:moveTo>
                <a:cubicBezTo>
                  <a:pt x="4064" y="4322"/>
                  <a:pt x="4631" y="4921"/>
                  <a:pt x="4631" y="5583"/>
                </a:cubicBezTo>
                <a:lnTo>
                  <a:pt x="4631" y="7725"/>
                </a:lnTo>
                <a:cubicBezTo>
                  <a:pt x="4348" y="7567"/>
                  <a:pt x="4033" y="7441"/>
                  <a:pt x="3686" y="7441"/>
                </a:cubicBezTo>
                <a:lnTo>
                  <a:pt x="3340" y="7441"/>
                </a:lnTo>
                <a:lnTo>
                  <a:pt x="3340" y="6402"/>
                </a:lnTo>
                <a:cubicBezTo>
                  <a:pt x="3340" y="6213"/>
                  <a:pt x="3182" y="6055"/>
                  <a:pt x="2962" y="6055"/>
                </a:cubicBezTo>
                <a:cubicBezTo>
                  <a:pt x="2773" y="6055"/>
                  <a:pt x="2615" y="6213"/>
                  <a:pt x="2615" y="6402"/>
                </a:cubicBezTo>
                <a:lnTo>
                  <a:pt x="2615" y="7788"/>
                </a:lnTo>
                <a:cubicBezTo>
                  <a:pt x="2615" y="7977"/>
                  <a:pt x="2773" y="8134"/>
                  <a:pt x="2962" y="8134"/>
                </a:cubicBezTo>
                <a:lnTo>
                  <a:pt x="3655" y="8134"/>
                </a:lnTo>
                <a:cubicBezTo>
                  <a:pt x="4064" y="8134"/>
                  <a:pt x="4474" y="8418"/>
                  <a:pt x="4600" y="8828"/>
                </a:cubicBezTo>
                <a:lnTo>
                  <a:pt x="1985" y="8828"/>
                </a:lnTo>
                <a:lnTo>
                  <a:pt x="1985" y="5583"/>
                </a:lnTo>
                <a:lnTo>
                  <a:pt x="2080" y="5583"/>
                </a:lnTo>
                <a:cubicBezTo>
                  <a:pt x="2080" y="5236"/>
                  <a:pt x="2237" y="4858"/>
                  <a:pt x="2458" y="4637"/>
                </a:cubicBezTo>
                <a:cubicBezTo>
                  <a:pt x="2741" y="4385"/>
                  <a:pt x="3056" y="4291"/>
                  <a:pt x="3403" y="4291"/>
                </a:cubicBezTo>
                <a:close/>
                <a:moveTo>
                  <a:pt x="1040" y="4795"/>
                </a:moveTo>
                <a:cubicBezTo>
                  <a:pt x="1229" y="4795"/>
                  <a:pt x="1418" y="4952"/>
                  <a:pt x="1418" y="5141"/>
                </a:cubicBezTo>
                <a:lnTo>
                  <a:pt x="1418" y="9174"/>
                </a:lnTo>
                <a:lnTo>
                  <a:pt x="1418" y="9300"/>
                </a:lnTo>
                <a:cubicBezTo>
                  <a:pt x="1449" y="9458"/>
                  <a:pt x="1575" y="9521"/>
                  <a:pt x="1733" y="9521"/>
                </a:cubicBezTo>
                <a:lnTo>
                  <a:pt x="5860" y="9521"/>
                </a:lnTo>
                <a:cubicBezTo>
                  <a:pt x="6049" y="9521"/>
                  <a:pt x="6175" y="9678"/>
                  <a:pt x="6175" y="9836"/>
                </a:cubicBezTo>
                <a:lnTo>
                  <a:pt x="6175" y="10938"/>
                </a:lnTo>
                <a:lnTo>
                  <a:pt x="693" y="10938"/>
                </a:lnTo>
                <a:lnTo>
                  <a:pt x="693" y="5141"/>
                </a:lnTo>
                <a:cubicBezTo>
                  <a:pt x="693" y="4952"/>
                  <a:pt x="851" y="4795"/>
                  <a:pt x="1040" y="4795"/>
                </a:cubicBezTo>
                <a:close/>
                <a:moveTo>
                  <a:pt x="7656" y="8197"/>
                </a:moveTo>
                <a:cubicBezTo>
                  <a:pt x="7971" y="8260"/>
                  <a:pt x="8254" y="8576"/>
                  <a:pt x="8254" y="8922"/>
                </a:cubicBezTo>
                <a:lnTo>
                  <a:pt x="8254" y="10938"/>
                </a:lnTo>
                <a:lnTo>
                  <a:pt x="6868" y="10938"/>
                </a:lnTo>
                <a:lnTo>
                  <a:pt x="6868" y="9836"/>
                </a:lnTo>
                <a:cubicBezTo>
                  <a:pt x="6868" y="9269"/>
                  <a:pt x="6396" y="8796"/>
                  <a:pt x="5860" y="8796"/>
                </a:cubicBezTo>
                <a:lnTo>
                  <a:pt x="5388" y="8796"/>
                </a:lnTo>
                <a:cubicBezTo>
                  <a:pt x="5356" y="8576"/>
                  <a:pt x="5230" y="8386"/>
                  <a:pt x="5104" y="8197"/>
                </a:cubicBezTo>
                <a:close/>
                <a:moveTo>
                  <a:pt x="9185" y="1"/>
                </a:moveTo>
                <a:cubicBezTo>
                  <a:pt x="9049" y="1"/>
                  <a:pt x="8908" y="88"/>
                  <a:pt x="8885" y="227"/>
                </a:cubicBezTo>
                <a:lnTo>
                  <a:pt x="6837" y="5078"/>
                </a:lnTo>
                <a:cubicBezTo>
                  <a:pt x="6774" y="5236"/>
                  <a:pt x="6837" y="5457"/>
                  <a:pt x="7026" y="5520"/>
                </a:cubicBezTo>
                <a:cubicBezTo>
                  <a:pt x="7089" y="5520"/>
                  <a:pt x="7120" y="5551"/>
                  <a:pt x="7152" y="5551"/>
                </a:cubicBezTo>
                <a:cubicBezTo>
                  <a:pt x="7278" y="5551"/>
                  <a:pt x="7435" y="5457"/>
                  <a:pt x="7467" y="5362"/>
                </a:cubicBezTo>
                <a:lnTo>
                  <a:pt x="8034" y="4039"/>
                </a:lnTo>
                <a:cubicBezTo>
                  <a:pt x="8191" y="4133"/>
                  <a:pt x="8349" y="4165"/>
                  <a:pt x="8538" y="4165"/>
                </a:cubicBezTo>
                <a:cubicBezTo>
                  <a:pt x="8664" y="4165"/>
                  <a:pt x="8759" y="4133"/>
                  <a:pt x="8885" y="4133"/>
                </a:cubicBezTo>
                <a:lnTo>
                  <a:pt x="8885" y="4921"/>
                </a:lnTo>
                <a:cubicBezTo>
                  <a:pt x="8223" y="5047"/>
                  <a:pt x="7719" y="5583"/>
                  <a:pt x="7561" y="6244"/>
                </a:cubicBezTo>
                <a:lnTo>
                  <a:pt x="5293" y="6244"/>
                </a:lnTo>
                <a:lnTo>
                  <a:pt x="5293" y="5709"/>
                </a:lnTo>
                <a:cubicBezTo>
                  <a:pt x="5293" y="4984"/>
                  <a:pt x="4915" y="4354"/>
                  <a:pt x="4348" y="4007"/>
                </a:cubicBezTo>
                <a:cubicBezTo>
                  <a:pt x="4757" y="3692"/>
                  <a:pt x="4978" y="3220"/>
                  <a:pt x="4978" y="2653"/>
                </a:cubicBezTo>
                <a:cubicBezTo>
                  <a:pt x="4978" y="1707"/>
                  <a:pt x="4253" y="983"/>
                  <a:pt x="3308" y="983"/>
                </a:cubicBezTo>
                <a:cubicBezTo>
                  <a:pt x="2363" y="983"/>
                  <a:pt x="1607" y="1707"/>
                  <a:pt x="1607" y="2653"/>
                </a:cubicBezTo>
                <a:cubicBezTo>
                  <a:pt x="1607" y="3220"/>
                  <a:pt x="1890" y="3724"/>
                  <a:pt x="2269" y="4039"/>
                </a:cubicBezTo>
                <a:cubicBezTo>
                  <a:pt x="2143" y="4133"/>
                  <a:pt x="2080" y="4196"/>
                  <a:pt x="1985" y="4291"/>
                </a:cubicBezTo>
                <a:cubicBezTo>
                  <a:pt x="1922" y="4354"/>
                  <a:pt x="1827" y="4448"/>
                  <a:pt x="1764" y="4543"/>
                </a:cubicBezTo>
                <a:cubicBezTo>
                  <a:pt x="1575" y="4354"/>
                  <a:pt x="1323" y="4228"/>
                  <a:pt x="1008" y="4228"/>
                </a:cubicBezTo>
                <a:cubicBezTo>
                  <a:pt x="473" y="4228"/>
                  <a:pt x="0" y="4700"/>
                  <a:pt x="0" y="5268"/>
                </a:cubicBezTo>
                <a:lnTo>
                  <a:pt x="0" y="11411"/>
                </a:lnTo>
                <a:cubicBezTo>
                  <a:pt x="0" y="11600"/>
                  <a:pt x="158" y="11758"/>
                  <a:pt x="347" y="11758"/>
                </a:cubicBezTo>
                <a:lnTo>
                  <a:pt x="8570" y="11758"/>
                </a:lnTo>
                <a:cubicBezTo>
                  <a:pt x="8759" y="11758"/>
                  <a:pt x="8916" y="11600"/>
                  <a:pt x="8916" y="11411"/>
                </a:cubicBezTo>
                <a:lnTo>
                  <a:pt x="8916" y="9048"/>
                </a:lnTo>
                <a:cubicBezTo>
                  <a:pt x="8916" y="8765"/>
                  <a:pt x="8853" y="8544"/>
                  <a:pt x="8727" y="8292"/>
                </a:cubicBezTo>
                <a:lnTo>
                  <a:pt x="11342" y="8292"/>
                </a:lnTo>
                <a:cubicBezTo>
                  <a:pt x="11531" y="8292"/>
                  <a:pt x="11689" y="8134"/>
                  <a:pt x="11689" y="7945"/>
                </a:cubicBezTo>
                <a:lnTo>
                  <a:pt x="11689" y="6559"/>
                </a:lnTo>
                <a:cubicBezTo>
                  <a:pt x="11689" y="6339"/>
                  <a:pt x="11531" y="6181"/>
                  <a:pt x="11310" y="6181"/>
                </a:cubicBezTo>
                <a:lnTo>
                  <a:pt x="10901" y="6181"/>
                </a:lnTo>
                <a:cubicBezTo>
                  <a:pt x="10775" y="5520"/>
                  <a:pt x="10239" y="4984"/>
                  <a:pt x="9546" y="4826"/>
                </a:cubicBezTo>
                <a:lnTo>
                  <a:pt x="9546" y="3094"/>
                </a:lnTo>
                <a:cubicBezTo>
                  <a:pt x="9546" y="2621"/>
                  <a:pt x="9231" y="2243"/>
                  <a:pt x="8790" y="2117"/>
                </a:cubicBezTo>
                <a:lnTo>
                  <a:pt x="9515" y="447"/>
                </a:lnTo>
                <a:cubicBezTo>
                  <a:pt x="9578" y="290"/>
                  <a:pt x="9515" y="69"/>
                  <a:pt x="9326" y="38"/>
                </a:cubicBezTo>
                <a:cubicBezTo>
                  <a:pt x="9283" y="12"/>
                  <a:pt x="9234" y="1"/>
                  <a:pt x="918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32"/>
          <p:cNvCxnSpPr/>
          <p:nvPr/>
        </p:nvCxnSpPr>
        <p:spPr>
          <a:xfrm>
            <a:off x="2842425" y="2854725"/>
            <a:ext cx="0" cy="1185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32"/>
          <p:cNvCxnSpPr/>
          <p:nvPr/>
        </p:nvCxnSpPr>
        <p:spPr>
          <a:xfrm>
            <a:off x="5951175" y="2854725"/>
            <a:ext cx="0" cy="1185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72" name="Google Shape;272;p32"/>
          <p:cNvGrpSpPr/>
          <p:nvPr/>
        </p:nvGrpSpPr>
        <p:grpSpPr>
          <a:xfrm>
            <a:off x="7101232" y="1612718"/>
            <a:ext cx="554159" cy="530663"/>
            <a:chOff x="1790525" y="2319150"/>
            <a:chExt cx="267800" cy="294600"/>
          </a:xfrm>
        </p:grpSpPr>
        <p:sp>
          <p:nvSpPr>
            <p:cNvPr id="273" name="Google Shape;273;p32"/>
            <p:cNvSpPr/>
            <p:nvPr/>
          </p:nvSpPr>
          <p:spPr>
            <a:xfrm>
              <a:off x="1881100" y="2423125"/>
              <a:ext cx="88225" cy="155175"/>
            </a:xfrm>
            <a:custGeom>
              <a:avLst/>
              <a:gdLst/>
              <a:ahLst/>
              <a:cxnLst/>
              <a:rect l="l" t="t" r="r" b="b"/>
              <a:pathLst>
                <a:path w="3529" h="6207" extrusionOk="0">
                  <a:moveTo>
                    <a:pt x="1418" y="1323"/>
                  </a:moveTo>
                  <a:lnTo>
                    <a:pt x="1418" y="2741"/>
                  </a:lnTo>
                  <a:lnTo>
                    <a:pt x="1072" y="2741"/>
                  </a:lnTo>
                  <a:cubicBezTo>
                    <a:pt x="882" y="2741"/>
                    <a:pt x="725" y="2583"/>
                    <a:pt x="725" y="2394"/>
                  </a:cubicBezTo>
                  <a:lnTo>
                    <a:pt x="725" y="1701"/>
                  </a:lnTo>
                  <a:cubicBezTo>
                    <a:pt x="725" y="1481"/>
                    <a:pt x="882" y="1323"/>
                    <a:pt x="1072" y="1323"/>
                  </a:cubicBezTo>
                  <a:close/>
                  <a:moveTo>
                    <a:pt x="2458" y="3466"/>
                  </a:moveTo>
                  <a:cubicBezTo>
                    <a:pt x="2647" y="3466"/>
                    <a:pt x="2804" y="3623"/>
                    <a:pt x="2804" y="3812"/>
                  </a:cubicBezTo>
                  <a:lnTo>
                    <a:pt x="2804" y="4537"/>
                  </a:lnTo>
                  <a:cubicBezTo>
                    <a:pt x="2804" y="4726"/>
                    <a:pt x="2647" y="4883"/>
                    <a:pt x="2458" y="4883"/>
                  </a:cubicBezTo>
                  <a:lnTo>
                    <a:pt x="2111" y="4883"/>
                  </a:lnTo>
                  <a:lnTo>
                    <a:pt x="2111" y="3466"/>
                  </a:lnTo>
                  <a:close/>
                  <a:moveTo>
                    <a:pt x="1796" y="0"/>
                  </a:moveTo>
                  <a:cubicBezTo>
                    <a:pt x="1576" y="0"/>
                    <a:pt x="1418" y="158"/>
                    <a:pt x="1418" y="347"/>
                  </a:cubicBezTo>
                  <a:lnTo>
                    <a:pt x="1418" y="693"/>
                  </a:lnTo>
                  <a:lnTo>
                    <a:pt x="1072" y="693"/>
                  </a:lnTo>
                  <a:cubicBezTo>
                    <a:pt x="473" y="693"/>
                    <a:pt x="63" y="1166"/>
                    <a:pt x="63" y="1733"/>
                  </a:cubicBezTo>
                  <a:lnTo>
                    <a:pt x="63" y="2426"/>
                  </a:lnTo>
                  <a:cubicBezTo>
                    <a:pt x="63" y="3025"/>
                    <a:pt x="536" y="3466"/>
                    <a:pt x="1072" y="3466"/>
                  </a:cubicBezTo>
                  <a:lnTo>
                    <a:pt x="1418" y="3466"/>
                  </a:lnTo>
                  <a:lnTo>
                    <a:pt x="1418" y="4852"/>
                  </a:lnTo>
                  <a:lnTo>
                    <a:pt x="1072" y="4852"/>
                  </a:lnTo>
                  <a:cubicBezTo>
                    <a:pt x="882" y="4852"/>
                    <a:pt x="725" y="4694"/>
                    <a:pt x="725" y="4474"/>
                  </a:cubicBezTo>
                  <a:cubicBezTo>
                    <a:pt x="725" y="4285"/>
                    <a:pt x="567" y="4127"/>
                    <a:pt x="378" y="4127"/>
                  </a:cubicBezTo>
                  <a:cubicBezTo>
                    <a:pt x="158" y="4127"/>
                    <a:pt x="0" y="4285"/>
                    <a:pt x="0" y="4474"/>
                  </a:cubicBezTo>
                  <a:cubicBezTo>
                    <a:pt x="0" y="5072"/>
                    <a:pt x="473" y="5513"/>
                    <a:pt x="1040" y="5513"/>
                  </a:cubicBezTo>
                  <a:lnTo>
                    <a:pt x="1387" y="5513"/>
                  </a:lnTo>
                  <a:lnTo>
                    <a:pt x="1387" y="5860"/>
                  </a:lnTo>
                  <a:cubicBezTo>
                    <a:pt x="1387" y="6049"/>
                    <a:pt x="1544" y="6207"/>
                    <a:pt x="1733" y="6207"/>
                  </a:cubicBezTo>
                  <a:cubicBezTo>
                    <a:pt x="1954" y="6207"/>
                    <a:pt x="2111" y="6049"/>
                    <a:pt x="2111" y="5860"/>
                  </a:cubicBezTo>
                  <a:lnTo>
                    <a:pt x="2111" y="5545"/>
                  </a:lnTo>
                  <a:lnTo>
                    <a:pt x="2458" y="5545"/>
                  </a:lnTo>
                  <a:cubicBezTo>
                    <a:pt x="3056" y="5545"/>
                    <a:pt x="3466" y="5072"/>
                    <a:pt x="3466" y="4537"/>
                  </a:cubicBezTo>
                  <a:lnTo>
                    <a:pt x="3466" y="3812"/>
                  </a:lnTo>
                  <a:cubicBezTo>
                    <a:pt x="3466" y="3214"/>
                    <a:pt x="2993" y="2804"/>
                    <a:pt x="2458" y="2804"/>
                  </a:cubicBezTo>
                  <a:lnTo>
                    <a:pt x="2111" y="2804"/>
                  </a:lnTo>
                  <a:lnTo>
                    <a:pt x="2111" y="1386"/>
                  </a:lnTo>
                  <a:lnTo>
                    <a:pt x="2458" y="1386"/>
                  </a:lnTo>
                  <a:cubicBezTo>
                    <a:pt x="2647" y="1386"/>
                    <a:pt x="2804" y="1544"/>
                    <a:pt x="2804" y="1733"/>
                  </a:cubicBezTo>
                  <a:cubicBezTo>
                    <a:pt x="2804" y="1922"/>
                    <a:pt x="2962" y="2079"/>
                    <a:pt x="3151" y="2079"/>
                  </a:cubicBezTo>
                  <a:cubicBezTo>
                    <a:pt x="3371" y="2079"/>
                    <a:pt x="3529" y="1922"/>
                    <a:pt x="3529" y="1733"/>
                  </a:cubicBezTo>
                  <a:cubicBezTo>
                    <a:pt x="3529" y="1134"/>
                    <a:pt x="3056" y="693"/>
                    <a:pt x="2489" y="693"/>
                  </a:cubicBez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1790525" y="2319150"/>
              <a:ext cx="267800" cy="294600"/>
            </a:xfrm>
            <a:custGeom>
              <a:avLst/>
              <a:gdLst/>
              <a:ahLst/>
              <a:cxnLst/>
              <a:rect l="l" t="t" r="r" b="b"/>
              <a:pathLst>
                <a:path w="10712" h="11784" extrusionOk="0">
                  <a:moveTo>
                    <a:pt x="6427" y="662"/>
                  </a:moveTo>
                  <a:cubicBezTo>
                    <a:pt x="6837" y="662"/>
                    <a:pt x="7152" y="977"/>
                    <a:pt x="7152" y="1355"/>
                  </a:cubicBezTo>
                  <a:cubicBezTo>
                    <a:pt x="7152" y="1765"/>
                    <a:pt x="6837" y="2080"/>
                    <a:pt x="6427" y="2080"/>
                  </a:cubicBezTo>
                  <a:lnTo>
                    <a:pt x="6427" y="1702"/>
                  </a:lnTo>
                  <a:cubicBezTo>
                    <a:pt x="6427" y="1513"/>
                    <a:pt x="6270" y="1355"/>
                    <a:pt x="6081" y="1355"/>
                  </a:cubicBezTo>
                  <a:lnTo>
                    <a:pt x="4695" y="1355"/>
                  </a:lnTo>
                  <a:cubicBezTo>
                    <a:pt x="4505" y="1355"/>
                    <a:pt x="4348" y="1513"/>
                    <a:pt x="4348" y="1702"/>
                  </a:cubicBezTo>
                  <a:lnTo>
                    <a:pt x="4348" y="2080"/>
                  </a:lnTo>
                  <a:cubicBezTo>
                    <a:pt x="3938" y="2017"/>
                    <a:pt x="3623" y="1765"/>
                    <a:pt x="3623" y="1355"/>
                  </a:cubicBezTo>
                  <a:cubicBezTo>
                    <a:pt x="3623" y="977"/>
                    <a:pt x="3938" y="662"/>
                    <a:pt x="4348" y="662"/>
                  </a:cubicBezTo>
                  <a:close/>
                  <a:moveTo>
                    <a:pt x="5734" y="2017"/>
                  </a:moveTo>
                  <a:lnTo>
                    <a:pt x="5734" y="2741"/>
                  </a:lnTo>
                  <a:lnTo>
                    <a:pt x="5010" y="2741"/>
                  </a:lnTo>
                  <a:lnTo>
                    <a:pt x="5010" y="2017"/>
                  </a:lnTo>
                  <a:close/>
                  <a:moveTo>
                    <a:pt x="1418" y="1985"/>
                  </a:moveTo>
                  <a:lnTo>
                    <a:pt x="1859" y="2489"/>
                  </a:lnTo>
                  <a:lnTo>
                    <a:pt x="1355" y="2930"/>
                  </a:lnTo>
                  <a:lnTo>
                    <a:pt x="914" y="2426"/>
                  </a:lnTo>
                  <a:lnTo>
                    <a:pt x="1418" y="1985"/>
                  </a:lnTo>
                  <a:close/>
                  <a:moveTo>
                    <a:pt x="9357" y="1985"/>
                  </a:moveTo>
                  <a:lnTo>
                    <a:pt x="9861" y="2426"/>
                  </a:lnTo>
                  <a:lnTo>
                    <a:pt x="9420" y="2930"/>
                  </a:lnTo>
                  <a:lnTo>
                    <a:pt x="8916" y="2489"/>
                  </a:lnTo>
                  <a:lnTo>
                    <a:pt x="9357" y="1985"/>
                  </a:lnTo>
                  <a:close/>
                  <a:moveTo>
                    <a:pt x="5356" y="3434"/>
                  </a:moveTo>
                  <a:cubicBezTo>
                    <a:pt x="7467" y="3434"/>
                    <a:pt x="9200" y="5167"/>
                    <a:pt x="9200" y="7278"/>
                  </a:cubicBezTo>
                  <a:cubicBezTo>
                    <a:pt x="9200" y="9389"/>
                    <a:pt x="7498" y="11090"/>
                    <a:pt x="5356" y="11090"/>
                  </a:cubicBezTo>
                  <a:cubicBezTo>
                    <a:pt x="3277" y="11090"/>
                    <a:pt x="1544" y="9357"/>
                    <a:pt x="1544" y="7278"/>
                  </a:cubicBezTo>
                  <a:cubicBezTo>
                    <a:pt x="1576" y="5136"/>
                    <a:pt x="3277" y="3434"/>
                    <a:pt x="5356" y="3434"/>
                  </a:cubicBezTo>
                  <a:close/>
                  <a:moveTo>
                    <a:pt x="4316" y="0"/>
                  </a:moveTo>
                  <a:cubicBezTo>
                    <a:pt x="3560" y="0"/>
                    <a:pt x="2930" y="631"/>
                    <a:pt x="2930" y="1387"/>
                  </a:cubicBezTo>
                  <a:cubicBezTo>
                    <a:pt x="2930" y="2143"/>
                    <a:pt x="3560" y="2773"/>
                    <a:pt x="4316" y="2773"/>
                  </a:cubicBezTo>
                  <a:lnTo>
                    <a:pt x="4316" y="2899"/>
                  </a:lnTo>
                  <a:cubicBezTo>
                    <a:pt x="3749" y="3025"/>
                    <a:pt x="3214" y="3277"/>
                    <a:pt x="2741" y="3592"/>
                  </a:cubicBezTo>
                  <a:lnTo>
                    <a:pt x="2269" y="3056"/>
                  </a:lnTo>
                  <a:lnTo>
                    <a:pt x="2521" y="2804"/>
                  </a:lnTo>
                  <a:cubicBezTo>
                    <a:pt x="2741" y="2678"/>
                    <a:pt x="2741" y="2458"/>
                    <a:pt x="2615" y="2332"/>
                  </a:cubicBezTo>
                  <a:lnTo>
                    <a:pt x="1702" y="1292"/>
                  </a:lnTo>
                  <a:cubicBezTo>
                    <a:pt x="1631" y="1203"/>
                    <a:pt x="1530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7"/>
                  </a:lnTo>
                  <a:cubicBezTo>
                    <a:pt x="1106" y="3770"/>
                    <a:pt x="1199" y="3809"/>
                    <a:pt x="1291" y="3809"/>
                  </a:cubicBezTo>
                  <a:cubicBezTo>
                    <a:pt x="1372" y="3809"/>
                    <a:pt x="1453" y="3778"/>
                    <a:pt x="1513" y="3718"/>
                  </a:cubicBezTo>
                  <a:lnTo>
                    <a:pt x="1796" y="3498"/>
                  </a:lnTo>
                  <a:lnTo>
                    <a:pt x="2269" y="4033"/>
                  </a:lnTo>
                  <a:cubicBezTo>
                    <a:pt x="1387" y="4852"/>
                    <a:pt x="882" y="6018"/>
                    <a:pt x="882" y="7278"/>
                  </a:cubicBezTo>
                  <a:cubicBezTo>
                    <a:pt x="882" y="9735"/>
                    <a:pt x="2899" y="11783"/>
                    <a:pt x="5356" y="11783"/>
                  </a:cubicBezTo>
                  <a:cubicBezTo>
                    <a:pt x="7845" y="11783"/>
                    <a:pt x="9861" y="9735"/>
                    <a:pt x="9861" y="7278"/>
                  </a:cubicBezTo>
                  <a:cubicBezTo>
                    <a:pt x="9861" y="6081"/>
                    <a:pt x="9389" y="4915"/>
                    <a:pt x="8475" y="4033"/>
                  </a:cubicBezTo>
                  <a:lnTo>
                    <a:pt x="8948" y="3498"/>
                  </a:lnTo>
                  <a:lnTo>
                    <a:pt x="9231" y="3718"/>
                  </a:lnTo>
                  <a:cubicBezTo>
                    <a:pt x="9306" y="3778"/>
                    <a:pt x="9387" y="3809"/>
                    <a:pt x="9465" y="3809"/>
                  </a:cubicBezTo>
                  <a:cubicBezTo>
                    <a:pt x="9553" y="3809"/>
                    <a:pt x="9637" y="3770"/>
                    <a:pt x="9704" y="3687"/>
                  </a:cubicBezTo>
                  <a:lnTo>
                    <a:pt x="10617" y="2615"/>
                  </a:lnTo>
                  <a:cubicBezTo>
                    <a:pt x="10712" y="2458"/>
                    <a:pt x="10712" y="2269"/>
                    <a:pt x="10554" y="2143"/>
                  </a:cubicBezTo>
                  <a:lnTo>
                    <a:pt x="9515" y="1229"/>
                  </a:lnTo>
                  <a:cubicBezTo>
                    <a:pt x="9446" y="1188"/>
                    <a:pt x="9365" y="1165"/>
                    <a:pt x="9288" y="1165"/>
                  </a:cubicBezTo>
                  <a:cubicBezTo>
                    <a:pt x="9189" y="1165"/>
                    <a:pt x="9095" y="1203"/>
                    <a:pt x="9042" y="1292"/>
                  </a:cubicBezTo>
                  <a:lnTo>
                    <a:pt x="8129" y="2332"/>
                  </a:lnTo>
                  <a:cubicBezTo>
                    <a:pt x="8003" y="2489"/>
                    <a:pt x="8003" y="2710"/>
                    <a:pt x="8160" y="2804"/>
                  </a:cubicBezTo>
                  <a:lnTo>
                    <a:pt x="8444" y="3056"/>
                  </a:lnTo>
                  <a:lnTo>
                    <a:pt x="7971" y="3592"/>
                  </a:lnTo>
                  <a:cubicBezTo>
                    <a:pt x="7498" y="3245"/>
                    <a:pt x="6931" y="3025"/>
                    <a:pt x="6396" y="2899"/>
                  </a:cubicBezTo>
                  <a:lnTo>
                    <a:pt x="6396" y="2773"/>
                  </a:lnTo>
                  <a:cubicBezTo>
                    <a:pt x="7152" y="2773"/>
                    <a:pt x="7782" y="2143"/>
                    <a:pt x="7782" y="1387"/>
                  </a:cubicBezTo>
                  <a:cubicBezTo>
                    <a:pt x="7782" y="631"/>
                    <a:pt x="7152" y="0"/>
                    <a:pt x="6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32"/>
          <p:cNvSpPr txBox="1">
            <a:spLocks noGrp="1"/>
          </p:cNvSpPr>
          <p:nvPr>
            <p:ph type="subTitle" idx="1"/>
          </p:nvPr>
        </p:nvSpPr>
        <p:spPr>
          <a:xfrm>
            <a:off x="6121800" y="2765493"/>
            <a:ext cx="28041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Digital check handling cuts paper-based processing expenses (Target: $1M savings vs. Actual: $950K)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ubTitle" idx="1"/>
          </p:nvPr>
        </p:nvSpPr>
        <p:spPr>
          <a:xfrm>
            <a:off x="535325" y="1286800"/>
            <a:ext cx="4171500" cy="29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Faster Funds Availability</a:t>
            </a:r>
            <a:r>
              <a:rPr lang="en" b="1"/>
              <a:t>:</a:t>
            </a:r>
            <a:r>
              <a:rPr lang="en"/>
              <a:t> Deposits clear in 1–3 business days, boosting cash flow for customers and the bank.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Revenue Increases:</a:t>
            </a:r>
            <a:r>
              <a:rPr lang="en" b="1"/>
              <a:t> </a:t>
            </a:r>
            <a:r>
              <a:rPr lang="en"/>
              <a:t>Attracts tech-savvy customers, increasing digital banking revenue (Target: $5M/year; Actual: $4.8M/year).</a:t>
            </a:r>
            <a:endParaRPr/>
          </a:p>
        </p:txBody>
      </p:sp>
      <p:sp>
        <p:nvSpPr>
          <p:cNvPr id="281" name="Google Shape;281;p33"/>
          <p:cNvSpPr txBox="1">
            <a:spLocks noGrp="1"/>
          </p:cNvSpPr>
          <p:nvPr>
            <p:ph type="title"/>
          </p:nvPr>
        </p:nvSpPr>
        <p:spPr>
          <a:xfrm>
            <a:off x="402719" y="410825"/>
            <a:ext cx="56712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2700">
                <a:latin typeface="Catamaran SemiBold"/>
                <a:ea typeface="Catamaran SemiBold"/>
                <a:cs typeface="Catamaran SemiBold"/>
                <a:sym typeface="Catamaran SemiBold"/>
              </a:rPr>
              <a:t>Tangible Benefits</a:t>
            </a:r>
            <a:r>
              <a:rPr lang="en" sz="2700">
                <a:latin typeface="Catamaran Medium"/>
                <a:ea typeface="Catamaran Medium"/>
                <a:cs typeface="Catamaran Medium"/>
                <a:sym typeface="Catamaran Medium"/>
              </a:rPr>
              <a:t> – Financial Gains</a:t>
            </a:r>
            <a:endParaRPr sz="27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 l="21869" r="21869"/>
          <a:stretch/>
        </p:blipFill>
        <p:spPr>
          <a:xfrm>
            <a:off x="5282025" y="1300300"/>
            <a:ext cx="3055500" cy="3054300"/>
          </a:xfrm>
          <a:prstGeom prst="roundRect">
            <a:avLst>
              <a:gd name="adj" fmla="val 4969"/>
            </a:avLst>
          </a:prstGeom>
          <a:noFill/>
          <a:ln>
            <a:noFill/>
          </a:ln>
        </p:spPr>
      </p:pic>
      <p:cxnSp>
        <p:nvCxnSpPr>
          <p:cNvPr id="283" name="Google Shape;283;p33"/>
          <p:cNvCxnSpPr/>
          <p:nvPr/>
        </p:nvCxnSpPr>
        <p:spPr>
          <a:xfrm>
            <a:off x="402722" y="1130514"/>
            <a:ext cx="7400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>
            <a:spLocks noGrp="1"/>
          </p:cNvSpPr>
          <p:nvPr>
            <p:ph type="subTitle" idx="1"/>
          </p:nvPr>
        </p:nvSpPr>
        <p:spPr>
          <a:xfrm>
            <a:off x="547525" y="1311775"/>
            <a:ext cx="39003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Enhanced Security Measures: </a:t>
            </a:r>
            <a:r>
              <a:rPr lang="en"/>
              <a:t>Fraud detection &amp; image recognition minimize fraud risk (Security incidents: Target 0 vs. Actual 1).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Improved Compliance: </a:t>
            </a:r>
            <a:r>
              <a:rPr lang="en"/>
              <a:t>Digital processes enhance adherence to regulatory standards (Target compliance: 100%; Actual: 95%).</a:t>
            </a:r>
            <a:endParaRPr/>
          </a:p>
        </p:txBody>
      </p:sp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 l="22200" r="22200"/>
          <a:stretch/>
        </p:blipFill>
        <p:spPr>
          <a:xfrm>
            <a:off x="4861925" y="1349725"/>
            <a:ext cx="3093900" cy="3092700"/>
          </a:xfrm>
          <a:prstGeom prst="roundRect">
            <a:avLst>
              <a:gd name="adj" fmla="val 4969"/>
            </a:avLst>
          </a:prstGeom>
          <a:noFill/>
          <a:ln>
            <a:noFill/>
          </a:ln>
        </p:spPr>
      </p:pic>
      <p:sp>
        <p:nvSpPr>
          <p:cNvPr id="290" name="Google Shape;290;p34"/>
          <p:cNvSpPr txBox="1">
            <a:spLocks noGrp="1"/>
          </p:cNvSpPr>
          <p:nvPr>
            <p:ph type="title"/>
          </p:nvPr>
        </p:nvSpPr>
        <p:spPr>
          <a:xfrm>
            <a:off x="547515" y="451250"/>
            <a:ext cx="77466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" sz="2700">
                <a:latin typeface="Catamaran SemiBold"/>
                <a:ea typeface="Catamaran SemiBold"/>
                <a:cs typeface="Catamaran SemiBold"/>
                <a:sym typeface="Catamaran SemiBold"/>
              </a:rPr>
              <a:t>Tangible Benefits </a:t>
            </a:r>
            <a:r>
              <a:rPr lang="en" sz="2700">
                <a:latin typeface="Catamaran Medium"/>
                <a:ea typeface="Catamaran Medium"/>
                <a:cs typeface="Catamaran Medium"/>
                <a:sym typeface="Catamaran Medium"/>
              </a:rPr>
              <a:t>– Risk Mitigation and Compliance</a:t>
            </a:r>
            <a:endParaRPr sz="27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cxnSp>
        <p:nvCxnSpPr>
          <p:cNvPr id="291" name="Google Shape;291;p34"/>
          <p:cNvCxnSpPr/>
          <p:nvPr/>
        </p:nvCxnSpPr>
        <p:spPr>
          <a:xfrm>
            <a:off x="623722" y="1164439"/>
            <a:ext cx="7400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5"/>
          <p:cNvPicPr preferRelativeResize="0"/>
          <p:nvPr/>
        </p:nvPicPr>
        <p:blipFill rotWithShape="1">
          <a:blip r:embed="rId3">
            <a:alphaModFix/>
          </a:blip>
          <a:srcRect l="22163" r="22163"/>
          <a:stretch/>
        </p:blipFill>
        <p:spPr>
          <a:xfrm>
            <a:off x="5335225" y="1297100"/>
            <a:ext cx="2968200" cy="2967000"/>
          </a:xfrm>
          <a:prstGeom prst="roundRect">
            <a:avLst>
              <a:gd name="adj" fmla="val 4969"/>
            </a:avLst>
          </a:prstGeom>
          <a:noFill/>
          <a:ln>
            <a:noFill/>
          </a:ln>
        </p:spPr>
      </p:pic>
      <p:sp>
        <p:nvSpPr>
          <p:cNvPr id="297" name="Google Shape;297;p35"/>
          <p:cNvSpPr txBox="1">
            <a:spLocks noGrp="1"/>
          </p:cNvSpPr>
          <p:nvPr>
            <p:ph type="subTitle" idx="1"/>
          </p:nvPr>
        </p:nvSpPr>
        <p:spPr>
          <a:xfrm>
            <a:off x="484625" y="1237550"/>
            <a:ext cx="4436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Convenience &amp; Accessibility:</a:t>
            </a:r>
            <a:r>
              <a:rPr lang="en" b="1"/>
              <a:t> </a:t>
            </a:r>
            <a:r>
              <a:rPr lang="en"/>
              <a:t>Customers can deposit checks anytime, anywhere, improving the banking experience.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Improved Trust:</a:t>
            </a:r>
            <a:r>
              <a:rPr lang="en" b="1"/>
              <a:t> </a:t>
            </a:r>
            <a:r>
              <a:rPr lang="en"/>
              <a:t>A secure, user-friendly process enhances brand loyalty and customer confidence (e.g., boosts Net Promoter Score).</a:t>
            </a:r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title"/>
          </p:nvPr>
        </p:nvSpPr>
        <p:spPr>
          <a:xfrm>
            <a:off x="318602" y="440950"/>
            <a:ext cx="85068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700">
                <a:latin typeface="Catamaran SemiBold"/>
                <a:ea typeface="Catamaran SemiBold"/>
                <a:cs typeface="Catamaran SemiBold"/>
                <a:sym typeface="Catamaran SemiBold"/>
              </a:rPr>
              <a:t>Intangible Benefits</a:t>
            </a:r>
            <a:r>
              <a:rPr lang="en" sz="2700"/>
              <a:t> </a:t>
            </a:r>
            <a:r>
              <a:rPr lang="en" sz="2700">
                <a:latin typeface="Catamaran Medium"/>
                <a:ea typeface="Catamaran Medium"/>
                <a:cs typeface="Catamaran Medium"/>
                <a:sym typeface="Catamaran Medium"/>
              </a:rPr>
              <a:t>– Enhanced Customer Experience</a:t>
            </a:r>
            <a:endParaRPr/>
          </a:p>
        </p:txBody>
      </p:sp>
      <p:cxnSp>
        <p:nvCxnSpPr>
          <p:cNvPr id="299" name="Google Shape;299;p35"/>
          <p:cNvCxnSpPr/>
          <p:nvPr/>
        </p:nvCxnSpPr>
        <p:spPr>
          <a:xfrm>
            <a:off x="409022" y="1164439"/>
            <a:ext cx="7400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6"/>
          <p:cNvPicPr preferRelativeResize="0"/>
          <p:nvPr/>
        </p:nvPicPr>
        <p:blipFill rotWithShape="1">
          <a:blip r:embed="rId3">
            <a:alphaModFix/>
          </a:blip>
          <a:srcRect l="20701" r="20701"/>
          <a:stretch/>
        </p:blipFill>
        <p:spPr>
          <a:xfrm>
            <a:off x="5130400" y="1277475"/>
            <a:ext cx="3074100" cy="3066900"/>
          </a:xfrm>
          <a:prstGeom prst="roundRect">
            <a:avLst>
              <a:gd name="adj" fmla="val 4969"/>
            </a:avLst>
          </a:prstGeom>
          <a:noFill/>
          <a:ln>
            <a:noFill/>
          </a:ln>
        </p:spPr>
      </p:pic>
      <p:sp>
        <p:nvSpPr>
          <p:cNvPr id="305" name="Google Shape;305;p36"/>
          <p:cNvSpPr txBox="1">
            <a:spLocks noGrp="1"/>
          </p:cNvSpPr>
          <p:nvPr>
            <p:ph type="subTitle" idx="1"/>
          </p:nvPr>
        </p:nvSpPr>
        <p:spPr>
          <a:xfrm>
            <a:off x="556150" y="1107000"/>
            <a:ext cx="4204200" cy="3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Innovation Leadership:</a:t>
            </a:r>
            <a:r>
              <a:rPr lang="en" b="1"/>
              <a:t> </a:t>
            </a:r>
            <a:r>
              <a:rPr lang="en"/>
              <a:t>Differentiates SecureBank as an innovative, tech-forward institution.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Long-Term Strategic Value:</a:t>
            </a:r>
            <a:r>
              <a:rPr lang="en" b="1"/>
              <a:t> </a:t>
            </a:r>
            <a:r>
              <a:rPr lang="en"/>
              <a:t>Enhances market position and opens new revenue opportunities.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500"/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Brand Reputation: </a:t>
            </a:r>
            <a:r>
              <a:rPr lang="en"/>
              <a:t>Positive customer experiences elevate the bank’s image.</a:t>
            </a:r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title"/>
          </p:nvPr>
        </p:nvSpPr>
        <p:spPr>
          <a:xfrm>
            <a:off x="395115" y="285250"/>
            <a:ext cx="79881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>
                <a:latin typeface="Catamaran SemiBold"/>
                <a:ea typeface="Catamaran SemiBold"/>
                <a:cs typeface="Catamaran SemiBold"/>
                <a:sym typeface="Catamaran SemiBold"/>
              </a:rPr>
              <a:t>Intangible Benefits </a:t>
            </a:r>
            <a:r>
              <a:rPr lang="en" sz="2300"/>
              <a:t>– </a:t>
            </a:r>
            <a:r>
              <a:rPr lang="en" sz="2300">
                <a:latin typeface="Catamaran Medium"/>
                <a:ea typeface="Catamaran Medium"/>
                <a:cs typeface="Catamaran Medium"/>
                <a:sym typeface="Catamaran Medium"/>
              </a:rPr>
              <a:t>Competitive Advantage &amp; Market Position</a:t>
            </a:r>
            <a:r>
              <a:rPr lang="en" sz="2500">
                <a:latin typeface="Catamaran Medium"/>
                <a:ea typeface="Catamaran Medium"/>
                <a:cs typeface="Catamaran Medium"/>
                <a:sym typeface="Catamaran Medium"/>
              </a:rPr>
              <a:t>         </a:t>
            </a:r>
            <a:r>
              <a:rPr lang="en" sz="2500"/>
              <a:t>  </a:t>
            </a:r>
            <a:r>
              <a:rPr lang="en"/>
              <a:t>                        </a:t>
            </a:r>
            <a:endParaRPr/>
          </a:p>
        </p:txBody>
      </p:sp>
      <p:cxnSp>
        <p:nvCxnSpPr>
          <p:cNvPr id="307" name="Google Shape;307;p36"/>
          <p:cNvCxnSpPr/>
          <p:nvPr/>
        </p:nvCxnSpPr>
        <p:spPr>
          <a:xfrm>
            <a:off x="489522" y="1021314"/>
            <a:ext cx="7400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7"/>
          <p:cNvPicPr preferRelativeResize="0"/>
          <p:nvPr/>
        </p:nvPicPr>
        <p:blipFill rotWithShape="1">
          <a:blip r:embed="rId3">
            <a:alphaModFix/>
          </a:blip>
          <a:srcRect l="20104" r="20098"/>
          <a:stretch/>
        </p:blipFill>
        <p:spPr>
          <a:xfrm>
            <a:off x="5464975" y="1401550"/>
            <a:ext cx="2959200" cy="2863200"/>
          </a:xfrm>
          <a:prstGeom prst="roundRect">
            <a:avLst>
              <a:gd name="adj" fmla="val 4969"/>
            </a:avLst>
          </a:prstGeom>
          <a:noFill/>
          <a:ln>
            <a:noFill/>
          </a:ln>
        </p:spPr>
      </p:pic>
      <p:sp>
        <p:nvSpPr>
          <p:cNvPr id="313" name="Google Shape;313;p37"/>
          <p:cNvSpPr txBox="1">
            <a:spLocks noGrp="1"/>
          </p:cNvSpPr>
          <p:nvPr>
            <p:ph type="subTitle" idx="1"/>
          </p:nvPr>
        </p:nvSpPr>
        <p:spPr>
          <a:xfrm>
            <a:off x="453650" y="1223375"/>
            <a:ext cx="4359300" cy="3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Empowered Workforce:</a:t>
            </a:r>
            <a:r>
              <a:rPr lang="en" b="1"/>
              <a:t> </a:t>
            </a:r>
            <a:r>
              <a:rPr lang="en"/>
              <a:t>Cross-functional collaboration leads to better decision-making and teamwork.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Employee Satisfaction: </a:t>
            </a:r>
            <a:r>
              <a:rPr lang="en"/>
              <a:t>Reduced manual tasks free up staff to focus on high-value work.</a:t>
            </a:r>
            <a:endParaRPr/>
          </a:p>
        </p:txBody>
      </p:sp>
      <p:sp>
        <p:nvSpPr>
          <p:cNvPr id="314" name="Google Shape;314;p37"/>
          <p:cNvSpPr txBox="1">
            <a:spLocks noGrp="1"/>
          </p:cNvSpPr>
          <p:nvPr>
            <p:ph type="title"/>
          </p:nvPr>
        </p:nvSpPr>
        <p:spPr>
          <a:xfrm>
            <a:off x="310375" y="428700"/>
            <a:ext cx="85119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400">
                <a:latin typeface="Catamaran SemiBold"/>
                <a:ea typeface="Catamaran SemiBold"/>
                <a:cs typeface="Catamaran SemiBold"/>
                <a:sym typeface="Catamaran SemiBold"/>
              </a:rPr>
              <a:t>Intangible Benefits</a:t>
            </a:r>
            <a:r>
              <a:rPr lang="en" sz="2400"/>
              <a:t> – </a:t>
            </a:r>
            <a:r>
              <a:rPr lang="en" sz="2400">
                <a:latin typeface="Catamaran Medium"/>
                <a:ea typeface="Catamaran Medium"/>
                <a:cs typeface="Catamaran Medium"/>
                <a:sym typeface="Catamaran Medium"/>
              </a:rPr>
              <a:t>Internal Collaboration &amp; Employee Morale</a:t>
            </a:r>
            <a:endParaRPr sz="3000"/>
          </a:p>
        </p:txBody>
      </p:sp>
      <p:cxnSp>
        <p:nvCxnSpPr>
          <p:cNvPr id="315" name="Google Shape;315;p37"/>
          <p:cNvCxnSpPr/>
          <p:nvPr/>
        </p:nvCxnSpPr>
        <p:spPr>
          <a:xfrm>
            <a:off x="391122" y="1079089"/>
            <a:ext cx="7400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>
            <a:spLocks noGrp="1"/>
          </p:cNvSpPr>
          <p:nvPr>
            <p:ph type="subTitle" idx="1"/>
          </p:nvPr>
        </p:nvSpPr>
        <p:spPr>
          <a:xfrm>
            <a:off x="556150" y="1088050"/>
            <a:ext cx="4481700" cy="3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Tangible benefits (cost savings, faster deposits, revenue growth) directly support strategic KPIs.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Improved efficiency and enhanced security address integration and operational concerns.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Better user experience and quicker service drive higher adoption and satisfaction.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Strengthened compliance and fraud prevention meet legal standards.</a:t>
            </a:r>
            <a:endParaRPr sz="1500"/>
          </a:p>
        </p:txBody>
      </p:sp>
      <p:pic>
        <p:nvPicPr>
          <p:cNvPr id="321" name="Google Shape;321;p38"/>
          <p:cNvPicPr preferRelativeResize="0"/>
          <p:nvPr/>
        </p:nvPicPr>
        <p:blipFill rotWithShape="1">
          <a:blip r:embed="rId3">
            <a:alphaModFix/>
          </a:blip>
          <a:srcRect l="21091" r="21091"/>
          <a:stretch/>
        </p:blipFill>
        <p:spPr>
          <a:xfrm>
            <a:off x="5259576" y="1240450"/>
            <a:ext cx="3184800" cy="3183600"/>
          </a:xfrm>
          <a:prstGeom prst="roundRect">
            <a:avLst>
              <a:gd name="adj" fmla="val 4969"/>
            </a:avLst>
          </a:prstGeom>
          <a:noFill/>
          <a:ln>
            <a:noFill/>
          </a:ln>
        </p:spPr>
      </p:pic>
      <p:sp>
        <p:nvSpPr>
          <p:cNvPr id="322" name="Google Shape;322;p38"/>
          <p:cNvSpPr/>
          <p:nvPr/>
        </p:nvSpPr>
        <p:spPr>
          <a:xfrm>
            <a:off x="5259578" y="1286729"/>
            <a:ext cx="586800" cy="586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38"/>
          <p:cNvGrpSpPr/>
          <p:nvPr/>
        </p:nvGrpSpPr>
        <p:grpSpPr>
          <a:xfrm>
            <a:off x="5386323" y="1413693"/>
            <a:ext cx="333304" cy="332873"/>
            <a:chOff x="5053900" y="2021500"/>
            <a:chExt cx="483750" cy="483125"/>
          </a:xfrm>
        </p:grpSpPr>
        <p:sp>
          <p:nvSpPr>
            <p:cNvPr id="324" name="Google Shape;324;p38"/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8"/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38"/>
          <p:cNvSpPr txBox="1">
            <a:spLocks noGrp="1"/>
          </p:cNvSpPr>
          <p:nvPr>
            <p:ph type="title"/>
          </p:nvPr>
        </p:nvSpPr>
        <p:spPr>
          <a:xfrm>
            <a:off x="395142" y="366100"/>
            <a:ext cx="6888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900">
                <a:latin typeface="Catamaran SemiBold"/>
                <a:ea typeface="Catamaran SemiBold"/>
                <a:cs typeface="Catamaran SemiBold"/>
                <a:sym typeface="Catamaran SemiBold"/>
              </a:rPr>
              <a:t>Alignment with Requirements</a:t>
            </a:r>
            <a:endParaRPr sz="2900">
              <a:latin typeface="Catamaran SemiBold"/>
              <a:ea typeface="Catamaran SemiBold"/>
              <a:cs typeface="Catamaran SemiBold"/>
              <a:sym typeface="Catamaran SemiBold"/>
            </a:endParaRPr>
          </a:p>
        </p:txBody>
      </p:sp>
      <p:cxnSp>
        <p:nvCxnSpPr>
          <p:cNvPr id="333" name="Google Shape;333;p38"/>
          <p:cNvCxnSpPr/>
          <p:nvPr/>
        </p:nvCxnSpPr>
        <p:spPr>
          <a:xfrm>
            <a:off x="462697" y="980714"/>
            <a:ext cx="7400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>
            <a:spLocks noGrp="1"/>
          </p:cNvSpPr>
          <p:nvPr>
            <p:ph type="subTitle" idx="1"/>
          </p:nvPr>
        </p:nvSpPr>
        <p:spPr>
          <a:xfrm flipH="1">
            <a:off x="440950" y="1757300"/>
            <a:ext cx="4185300" cy="11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latin typeface="Catamaran SemiBold"/>
                <a:ea typeface="Catamaran SemiBold"/>
                <a:cs typeface="Catamaran SemiBold"/>
                <a:sym typeface="Catamaran SemiBold"/>
              </a:rPr>
              <a:t>Questions ???</a:t>
            </a:r>
            <a:endParaRPr sz="2500">
              <a:latin typeface="Catamaran SemiBold"/>
              <a:ea typeface="Catamaran SemiBold"/>
              <a:cs typeface="Catamaran SemiBold"/>
              <a:sym typeface="Catamaran SemiBold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We are happy to take your questions.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339" name="Google Shape;339;p39"/>
          <p:cNvPicPr preferRelativeResize="0"/>
          <p:nvPr/>
        </p:nvPicPr>
        <p:blipFill rotWithShape="1">
          <a:blip r:embed="rId3">
            <a:alphaModFix/>
          </a:blip>
          <a:srcRect l="23214" r="23209"/>
          <a:stretch/>
        </p:blipFill>
        <p:spPr>
          <a:xfrm>
            <a:off x="5010902" y="782725"/>
            <a:ext cx="3653100" cy="3651600"/>
          </a:xfrm>
          <a:prstGeom prst="roundRect">
            <a:avLst>
              <a:gd name="adj" fmla="val 4969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nking &amp; Financial Support Services Pitch Deck by Slidesgo">
  <a:themeElements>
    <a:clrScheme name="Simple Light">
      <a:dk1>
        <a:srgbClr val="0B0B0D"/>
      </a:dk1>
      <a:lt1>
        <a:srgbClr val="FFFFFF"/>
      </a:lt1>
      <a:dk2>
        <a:srgbClr val="1E549F"/>
      </a:dk2>
      <a:lt2>
        <a:srgbClr val="2E79BA"/>
      </a:lt2>
      <a:accent1>
        <a:srgbClr val="ACC2E9"/>
      </a:accent1>
      <a:accent2>
        <a:srgbClr val="C9DAF8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B0B0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Palanquin Dark</vt:lpstr>
      <vt:lpstr>Hind Siliguri SemiBold</vt:lpstr>
      <vt:lpstr>Catamaran Medium</vt:lpstr>
      <vt:lpstr>Catamaran</vt:lpstr>
      <vt:lpstr>Catamaran SemiBold</vt:lpstr>
      <vt:lpstr>Fredoka</vt:lpstr>
      <vt:lpstr>Banking &amp; Financial Support Services Pitch Deck by Slidesgo</vt:lpstr>
      <vt:lpstr>Secure Bank Mobile Check Deposit- Benefits Analysis</vt:lpstr>
      <vt:lpstr>Agenda</vt:lpstr>
      <vt:lpstr>Overview of the Project</vt:lpstr>
      <vt:lpstr>Tangible Benefits - Operational Efficiency &amp; Cost Saving</vt:lpstr>
      <vt:lpstr>Tangible Benefits – Financial Gains</vt:lpstr>
      <vt:lpstr>Tangible Benefits – Risk Mitigation and Compliance</vt:lpstr>
      <vt:lpstr>Intangible Benefits – Enhanced Customer Experience</vt:lpstr>
      <vt:lpstr>Intangible Benefits – Competitive Advantage &amp; Market Position                                   </vt:lpstr>
      <vt:lpstr>Intangible Benefits – Internal Collaboration &amp; Employee Morale</vt:lpstr>
      <vt:lpstr>Alignment with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Amisha Shrestha</cp:lastModifiedBy>
  <cp:revision>1</cp:revision>
  <dcterms:modified xsi:type="dcterms:W3CDTF">2025-02-14T00:47:45Z</dcterms:modified>
</cp:coreProperties>
</file>